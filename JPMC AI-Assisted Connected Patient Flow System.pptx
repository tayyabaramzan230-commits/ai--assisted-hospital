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8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34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Open with the system name and JPMC context: this is the AI-Assisted Connected Patient Flow System for Jinnah Hospital Karachi.
 - Frame the goal: connect doctor availability, live queue, patient history, vitals, and hospital operations to reduce unnecessary waiting.
 - State the guiding principle up front: AI assists — doctors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Walk through the four pain points: long waits, fragmented information, slow emergency triage, no live queue visibility.
 - Emphasize that these problems compound each other — long waits are worse when information is fragmented and visibility is missing.
 - Set up the next slide: a connected, AI-assisted system addresses all four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Restate the core idea: AI does not replace doctors — it connects patient flow, queue, information, and operations to reduce unnecessary waiting.
 - Walk through the four pillars: Connect, Assist, Route, Govern — each maps to a system capability.
 - Emphasize that governance (role-based access, audit logs) keeps the doctor in control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Walk through the attendance lifecycle: Check-in → Available → Patients Assigned → Break → Check-out.
 - Highlight that the patient app shows live doctor status, current patient, queue length, and estimated wait.
 - Reinforce the boundary: biometric is identification and attendance, not AI — AI consumes the resulting availability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Stress token transparency: patients see their token, who's being served, and how many are ahead.
 - Explain the AI estimation inputs: queue history, doctor availability, and patient flow — not a static guess.
 - Note the unavailability alert pattern: when status changes, wait estimates update and patients are notified.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Explain what AI does: takes patient-entered inputs and produces a single-screen structured summary the doctor sees before the patient walks in.
 - State the boundary clearly: AI summarizes only — it does NOT diagnose and does NOT prescribe.
 - Reinforce that final assessment and treatment remain the doctor's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room through the 5-step pathway: arrival → quick ID → basic info → clinical triage → treatment.
- Stress the under-30-second quick-ID benchmark and that triage is nurse-led, not AI-led.
- Reinforce that registration and payment run in parallel — they never block clinical care.
- Note that JPMC A&amp;E operates 24/7, so this fast-track is a core pathway, not an edge case.
- Close with: AI assists routing and admin; the emergency team owns clinical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kiosk captures five core vitals: BP, pulse, temperature, SpO₂, and weight.
- Readings link automatically to the patient's digital record — no manual entry.
- Doctor dashboard shows vitals before the patient walks in, saving consult time.
- AI organizes the data and flags unusual readings for staff review — it does not diagnose.
- Boundary discipline: sensors measure; staff review; doctors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system continuously monitors availability, waiting count, consultation flow, capacity, and emergency load.
- It updates per-doctor estimated waiting times live across the hospital.
- When policy allows, it can suggest an alternative doctor or queue — as shown for Dr. Sana.
- Highlighted row makes the "suggested" option visually obvious without hiding the others.
- Routing is always optional and respects hospital policy — staff retain override.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a full-hospital view — not just one counter's queue.
- Six KPIs at a glance: ER load, OPD load, doctor availability, average wait, bed status, delayed departments.
- Admin can act on signals like ER-High or a delayed department without leaving the dashboard.
- Bed/room availability appears only where the integration exists — no fake data.
- Live status changes the conversation from "what happened" to "what is happening now".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Patient history is sensitive — this is a hospital information system, not just an AI app.
- Role-based access means each role sees only what it needs: patient, nurse, doctor, billing, admin.
- Every access is logged: who, when, and what — visible in the audit log strip.
- Audit logging strengthens governance and patient trust — and supports compliance review.
- This module closes the loop: AI assists, doctors decide, and every interaction is accountable.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Two flows run in parallel — patient-side (10 steps) and doctor-side (5 steps) — synchronized through the live queue and AI waiting-time estimates.
 - Patient flow runs from app booking and pre-assessment, through hospital arrival, consultation, and digital discharge, all the way to automated follow-up.
 - Doctor flow runs from biometric check-in to dashboard-ready, with availability, queue, and AI estimates updating in real time.
 - At hospital arrival, the emergency path branches off and runs alongside the normal OPD path — both feed the same operations layer.
 - The two flows are designed to stay synchronized end-to-end so neither side is ever waiting on stale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Lead with the core principle: AI connects, organizes, and predicts — it does NOT diagnose and does NOT prescribe; doctors stay in control.
 - Walk the audience through the technical distinction: biometric is identification, sensors are measurements, AI is prediction and organization.
 - For each of the three pillars, name the AI role explicitly so the audience hears where AI ends and clinical judgment begins.
 - Close on the boundary strip: the separation between summary/support and diagnosis/treatment is what makes the model technically clear and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Open with the headline impact: 30–50% reduction in OPD waiting time is the marquee number — driven by live queue plus AI estimates.
 - For doctors, the win is one screen with history, vitals, and AI summary — fewer paper files, less context-switching.
 - For admin, the shift is from one counter's queue to full live hospital status — better decisions, faster response.
 - Patient-side benefits cluster around less waiting and transparency; hospital-side benefits cluster around visibility, governance, and freeing doctor time for care.
 - Flag the italic note: ranges are indicative and will be confirmed by pilot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Rollout is phased: Pilot first, then Integrate, then Govern, then Iterate — each phase has a clear exit signal.
 - Pilot starts small (one OPD + ER triage) to baseline waiting time, doctor utilization, and patient feedback before scaling.
 - Integration with existing HIS, billing, and pharmacy is intentional — we avoid building parallel silos.
 - Governance and the AI-vs-clinical-decision boundary are defined and trained on before scale, not after.
 - The guardrails strip is non-negotiable across every phase: doctor stays in control, every access is audited, AI assists and never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Recap the three pillars in one breath: Connect, Assist, Govern — that is the whole system in three words.
 - Reinforce the closing message: connected care, less waiting, doctors in control — AI assists, doctors decide.
 - Thank the JPMC stakeholders for their time and attention through the briefing.
 - Open the floor for discussion and questions — invite feedback from clinical, operations, and admin perspectives.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2375" y="-1000125"/>
            <a:ext cx="2571750" cy="2571750"/>
          </a:xfrm>
          <a:prstGeom prst="ellipse">
            <a:avLst/>
          </a:prstGeom>
          <a:solidFill>
            <a:srgbClr val="E0F2F4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571500" y="4286250"/>
            <a:ext cx="1571625" cy="1571625"/>
          </a:xfrm>
          <a:prstGeom prst="ellipse">
            <a:avLst/>
          </a:prstGeom>
          <a:solidFill>
            <a:srgbClr val="FFE9E6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87847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166440"/>
            <a:ext cx="1411895" cy="189309"/>
          </a:xfrm>
          <a:prstGeom prst="roundRect">
            <a:avLst>
              <a:gd name="adj" fmla="val 5026425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1166440"/>
            <a:ext cx="1411895" cy="264345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· STAKEHOLDER BRIEFING</a:t>
            </a:r>
            <a:endParaRPr lang="en-US" sz="619" dirty="0"/>
          </a:p>
        </p:txBody>
      </p:sp>
      <p:sp>
        <p:nvSpPr>
          <p:cNvPr id="10" name="Text 8"/>
          <p:cNvSpPr/>
          <p:nvPr/>
        </p:nvSpPr>
        <p:spPr>
          <a:xfrm>
            <a:off x="457200" y="1484337"/>
            <a:ext cx="5431438" cy="99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27"/>
              </a:lnSpc>
              <a:buNone/>
            </a:pPr>
            <a:r>
              <a:rPr lang="en-US" sz="3488" b="1" kern="0" spc="-7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AI-Assisted </a:t>
            </a:r>
            <a:r>
              <a:rPr lang="en-US" sz="3488" b="1" kern="0" spc="-70" dirty="0">
                <a:solidFill>
                  <a:srgbClr val="00838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</a:t>
            </a:r>
            <a:endParaRPr lang="en-US" sz="3488" dirty="0"/>
          </a:p>
          <a:p>
            <a:pPr marL="0" indent="0" algn="l">
              <a:lnSpc>
                <a:spcPts val="3627"/>
              </a:lnSpc>
              <a:buNone/>
            </a:pPr>
            <a:r>
              <a:rPr lang="en-US" sz="3488" b="1" kern="0" spc="-7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Flow </a:t>
            </a:r>
            <a:r>
              <a:rPr lang="en-US" sz="3488" b="1" kern="0" spc="-70" dirty="0">
                <a:solidFill>
                  <a:srgbClr val="FF6B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</a:t>
            </a:r>
            <a:endParaRPr lang="en-US" sz="3488" dirty="0"/>
          </a:p>
        </p:txBody>
      </p:sp>
      <p:sp>
        <p:nvSpPr>
          <p:cNvPr id="11" name="Text 9"/>
          <p:cNvSpPr/>
          <p:nvPr/>
        </p:nvSpPr>
        <p:spPr>
          <a:xfrm>
            <a:off x="457200" y="2534022"/>
            <a:ext cx="5431438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kern="0" spc="-12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Jinnah Hospital (JPMC) — Karachi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457200" y="2869778"/>
            <a:ext cx="40005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Connecting doctor availability, live queue, patient history, vitals, and hospital operations — so unnecessary waiting is reduced.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615316" y="3373413"/>
            <a:ext cx="1298108" cy="198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81"/>
              </a:lnSpc>
            </a:pPr>
            <a:r>
              <a:rPr lang="en-US" sz="788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Presented by: Tayyaba &amp; Rabia   </a:t>
            </a:r>
          </a:p>
        </p:txBody>
      </p:sp>
      <p:sp>
        <p:nvSpPr>
          <p:cNvPr id="14" name="Text 12"/>
          <p:cNvSpPr/>
          <p:nvPr/>
        </p:nvSpPr>
        <p:spPr>
          <a:xfrm>
            <a:off x="457200" y="33888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636679" y="3578324"/>
            <a:ext cx="2094690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Stakeholder Briefing — JPMC Administration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457200" y="35998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457200" y="3860674"/>
            <a:ext cx="1075134" cy="307781"/>
          </a:xfrm>
          <a:prstGeom prst="roundRect">
            <a:avLst>
              <a:gd name="adj" fmla="val 3091638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0094" y="3952056"/>
            <a:ext cx="810816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Biometric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564356" y="39502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1589484" y="3860674"/>
            <a:ext cx="848990" cy="307781"/>
          </a:xfrm>
          <a:prstGeom prst="roundRect">
            <a:avLst>
              <a:gd name="adj" fmla="val 3091638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875732" y="3952056"/>
            <a:ext cx="597963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Queue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1696641" y="39502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2495624" y="3860674"/>
            <a:ext cx="1164431" cy="307781"/>
          </a:xfrm>
          <a:prstGeom prst="roundRect">
            <a:avLst>
              <a:gd name="adj" fmla="val 3091638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88518" y="3952056"/>
            <a:ext cx="2606353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Pre-Assessment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02781" y="39502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266" dirty="0"/>
          </a:p>
        </p:txBody>
      </p:sp>
      <p:pic>
        <p:nvPicPr>
          <p:cNvPr id="26" name="Image 0" descr="/tmp/h2p-fit-1790056702549-6e17n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621" y="785813"/>
            <a:ext cx="3291818" cy="3571875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621" y="785813"/>
            <a:ext cx="3291818" cy="357187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794921" y="3932634"/>
            <a:ext cx="3063218" cy="310753"/>
          </a:xfrm>
          <a:prstGeom prst="roundRect">
            <a:avLst>
              <a:gd name="adj" fmla="val 36782"/>
            </a:avLst>
          </a:prstGeom>
          <a:solidFill>
            <a:srgbClr val="FFFFFF">
              <a:alpha val="97000"/>
            </a:srgbClr>
          </a:solidFill>
          <a:ln/>
          <a:effectLst>
            <a:outerShdw blurRad="266700" dist="952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894933" y="4066580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994946" y="4018359"/>
            <a:ext cx="914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26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101879" y="4026396"/>
            <a:ext cx="482340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26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488869" y="4026396"/>
            <a:ext cx="91440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26" dirty="0">
                <a:solidFill>
                  <a:srgbClr val="D9E5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6569013" y="4018359"/>
            <a:ext cx="914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26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6675946" y="4026396"/>
            <a:ext cx="749034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47" kern="0" spc="26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flow</a:t>
            </a:r>
            <a:endParaRPr lang="en-US" sz="647" dirty="0"/>
          </a:p>
        </p:txBody>
      </p:sp>
      <p:sp>
        <p:nvSpPr>
          <p:cNvPr id="35" name="Text 31"/>
          <p:cNvSpPr/>
          <p:nvPr/>
        </p:nvSpPr>
        <p:spPr>
          <a:xfrm>
            <a:off x="7317209" y="4026396"/>
            <a:ext cx="91440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26" dirty="0">
                <a:solidFill>
                  <a:srgbClr val="D9E5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7397353" y="4026396"/>
            <a:ext cx="1360773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47" kern="0" spc="26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assists — doctors decide</a:t>
            </a:r>
            <a:endParaRPr lang="en-US" sz="64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389" y="388691"/>
            <a:ext cx="588891" cy="212027"/>
          </a:xfrm>
          <a:prstGeom prst="roundRect">
            <a:avLst>
              <a:gd name="adj" fmla="val 4487860"/>
            </a:avLst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1898" y="400050"/>
            <a:ext cx="55587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60797"/>
            <a:ext cx="86360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68"/>
              </a:lnSpc>
              <a:buNone/>
            </a:pPr>
            <a:r>
              <a:rPr lang="en-US" sz="2025" b="1" kern="0" spc="-3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patient flow at JPMC needs to change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1034504"/>
            <a:ext cx="400050" cy="21431"/>
          </a:xfrm>
          <a:prstGeom prst="roundRect">
            <a:avLst>
              <a:gd name="adj" fmla="val 8889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0772" y="1216670"/>
            <a:ext cx="2404542" cy="1700882"/>
          </a:xfrm>
          <a:prstGeom prst="roundRect">
            <a:avLst>
              <a:gd name="adj" fmla="val 7840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2931" y="134882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5793" y="138169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592931" y="1734592"/>
            <a:ext cx="2140223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Long OPD &amp; Emergency waits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92931" y="1957834"/>
            <a:ext cx="21402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Patients wait hours without visibility into their actual queue position.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86757" y="1216670"/>
            <a:ext cx="2404542" cy="1700882"/>
          </a:xfrm>
          <a:prstGeom prst="roundRect">
            <a:avLst>
              <a:gd name="adj" fmla="val 7840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18917" y="134882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51778" y="138169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14" name="Text 12"/>
          <p:cNvSpPr/>
          <p:nvPr/>
        </p:nvSpPr>
        <p:spPr>
          <a:xfrm>
            <a:off x="3118917" y="1734592"/>
            <a:ext cx="2140223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Fragmented information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3118917" y="1957834"/>
            <a:ext cx="21402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history, vitals, and prior reports spread across paper files and disconnected screens.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0772" y="3038996"/>
            <a:ext cx="2404542" cy="1700882"/>
          </a:xfrm>
          <a:prstGeom prst="roundRect">
            <a:avLst>
              <a:gd name="adj" fmla="val 7840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2931" y="3171155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5793" y="320401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9" name="Text 17"/>
          <p:cNvSpPr/>
          <p:nvPr/>
        </p:nvSpPr>
        <p:spPr>
          <a:xfrm>
            <a:off x="592931" y="3556918"/>
            <a:ext cx="2140223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Slow emergency triage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592931" y="3780160"/>
            <a:ext cx="21402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Critical cases lose precious minutes to registration and payment bottlenecks.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86757" y="3038996"/>
            <a:ext cx="2404542" cy="1700882"/>
          </a:xfrm>
          <a:prstGeom prst="roundRect">
            <a:avLst>
              <a:gd name="adj" fmla="val 7840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18917" y="3171155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151778" y="320401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3118917" y="3556918"/>
            <a:ext cx="2140223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queue visibility</a:t>
            </a:r>
            <a:endParaRPr lang="en-US" sz="956" dirty="0"/>
          </a:p>
        </p:txBody>
      </p:sp>
      <p:sp>
        <p:nvSpPr>
          <p:cNvPr id="25" name="Text 23"/>
          <p:cNvSpPr/>
          <p:nvPr/>
        </p:nvSpPr>
        <p:spPr>
          <a:xfrm>
            <a:off x="3118917" y="3780160"/>
            <a:ext cx="21402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Patients and admins cannot see live doctor availability or department load.</a:t>
            </a:r>
            <a:endParaRPr lang="en-US" sz="800" dirty="0"/>
          </a:p>
        </p:txBody>
      </p:sp>
      <p:pic>
        <p:nvPicPr>
          <p:cNvPr id="26" name="Image 0" descr="/tmp/h2p-fit-1790056702519-f6v4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896" y="1213098"/>
            <a:ext cx="3291818" cy="2286000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896" y="1213098"/>
            <a:ext cx="3291818" cy="228600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5605611" y="3613398"/>
            <a:ext cx="0" cy="352053"/>
          </a:xfrm>
          <a:prstGeom prst="line">
            <a:avLst/>
          </a:prstGeom>
          <a:noFill/>
          <a:ln w="21431">
            <a:solidFill>
              <a:srgbClr val="FF6B5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594896" y="3613398"/>
            <a:ext cx="3291818" cy="380217"/>
          </a:xfrm>
          <a:prstGeom prst="rect">
            <a:avLst/>
          </a:prstGeom>
          <a:noFill/>
          <a:ln/>
        </p:spPr>
        <p:txBody>
          <a:bodyPr wrap="square" lIns="100013" tIns="0" rIns="0" bIns="0" rtlCol="0" anchor="t"/>
          <a:lstStyle/>
          <a:p>
            <a:pPr marL="0" indent="0" algn="l">
              <a:lnSpc>
                <a:spcPts val="1387"/>
              </a:lnSpc>
              <a:buNone/>
            </a:pPr>
            <a:r>
              <a:rPr lang="en-US" sz="956" i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“Every minute in the waiting room is a minute not spent on care.”</a:t>
            </a:r>
            <a:endParaRPr lang="en-US" sz="956" dirty="0"/>
          </a:p>
        </p:txBody>
      </p:sp>
      <p:sp>
        <p:nvSpPr>
          <p:cNvPr id="30" name="Text 26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697" y="388691"/>
            <a:ext cx="607576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3383" y="400050"/>
            <a:ext cx="6302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60797"/>
            <a:ext cx="86360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68"/>
              </a:lnSpc>
              <a:buNone/>
            </a:pPr>
            <a:r>
              <a:rPr lang="en-US" sz="2025" b="1" kern="0" spc="-3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connected, AI-assisted patient-flow system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1034504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0772" y="1202382"/>
            <a:ext cx="8222456" cy="715045"/>
          </a:xfrm>
          <a:prstGeom prst="roundRect">
            <a:avLst>
              <a:gd name="adj" fmla="val 21313"/>
            </a:avLst>
          </a:prstGeom>
          <a:solidFill>
            <a:srgbClr val="E0F2F4"/>
          </a:solidFill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0081" y="1363117"/>
            <a:ext cx="7843838" cy="393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69" b="1" kern="0" spc="-5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system does not use AI to replace doctors. It uses AI to </a:t>
            </a:r>
            <a:r>
              <a:rPr lang="en-US" sz="1069" b="1" kern="0" spc="-5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</a:t>
            </a:r>
            <a:r>
              <a:rPr lang="en-US" sz="1069" b="1" kern="0" spc="-5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patient flow, doctor availability, queue management, patient information, and hospital operations — so unnecessary waiting is reduced.</a:t>
            </a:r>
            <a:endParaRPr lang="en-US" sz="1069" dirty="0"/>
          </a:p>
        </p:txBody>
      </p:sp>
      <p:sp>
        <p:nvSpPr>
          <p:cNvPr id="8" name="Text 6"/>
          <p:cNvSpPr/>
          <p:nvPr/>
        </p:nvSpPr>
        <p:spPr>
          <a:xfrm>
            <a:off x="460772" y="2081733"/>
            <a:ext cx="1964531" cy="1193006"/>
          </a:xfrm>
          <a:prstGeom prst="roundRect">
            <a:avLst>
              <a:gd name="adj" fmla="val 11178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87590" y="2185318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10" name="Text 8"/>
          <p:cNvSpPr/>
          <p:nvPr/>
        </p:nvSpPr>
        <p:spPr>
          <a:xfrm>
            <a:off x="592931" y="2213893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5793" y="224675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592931" y="2599655"/>
            <a:ext cx="170021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592931" y="2863974"/>
            <a:ext cx="17002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Bring flow, queue, and information into one system.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46747" y="2081733"/>
            <a:ext cx="1964531" cy="1193006"/>
          </a:xfrm>
          <a:prstGeom prst="roundRect">
            <a:avLst>
              <a:gd name="adj" fmla="val 11178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73565" y="2185318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2678906" y="2213893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11768" y="224675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2678906" y="2599655"/>
            <a:ext cx="170021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Assist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2678906" y="2863974"/>
            <a:ext cx="17002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organizes data and predicts waiting times.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32722" y="2081733"/>
            <a:ext cx="1964531" cy="1193006"/>
          </a:xfrm>
          <a:prstGeom prst="roundRect">
            <a:avLst>
              <a:gd name="adj" fmla="val 11178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59540" y="2185318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4764881" y="2213893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97743" y="224675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4764881" y="2599655"/>
            <a:ext cx="170021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4764881" y="2863974"/>
            <a:ext cx="17002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 triage for normal and emergency patients.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18697" y="2081733"/>
            <a:ext cx="1964531" cy="1193006"/>
          </a:xfrm>
          <a:prstGeom prst="roundRect">
            <a:avLst>
              <a:gd name="adj" fmla="val 11178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445515" y="2185318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6850856" y="2213893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83717" y="224675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6850856" y="2599655"/>
            <a:ext cx="170021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6850856" y="2863974"/>
            <a:ext cx="17002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Role-based access, audit logs, doctor stays in control.</a:t>
            </a:r>
            <a:endParaRPr lang="en-US" sz="800" dirty="0"/>
          </a:p>
        </p:txBody>
      </p:sp>
      <p:pic>
        <p:nvPicPr>
          <p:cNvPr id="32" name="Image 0" descr="/tmp/h2p-fit-1790056702543-q86uu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961" y="4586288"/>
            <a:ext cx="400050" cy="40005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356736" y="4727377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16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91"/>
            <a:ext cx="633226" cy="212027"/>
          </a:xfrm>
          <a:prstGeom prst="roundRect">
            <a:avLst>
              <a:gd name="adj" fmla="val 4487860"/>
            </a:avLst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1927" y="400050"/>
            <a:ext cx="6637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7576" y="388691"/>
            <a:ext cx="732123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7421" y="400050"/>
            <a:ext cx="8124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FLOW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60797"/>
            <a:ext cx="863600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1800" b="1" kern="0" spc="-27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Biometric Check-in / Check-out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988182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152488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1152488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kern="0" spc="2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14388" y="1152488"/>
            <a:ext cx="3153247" cy="129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Biometric verification on arrival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4388" y="1309650"/>
            <a:ext cx="29196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fingerprints in at hospital entry; system authenticates identity.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57200" y="1554324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1554324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kern="0" spc="2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14388" y="1554324"/>
            <a:ext cx="3919588" cy="129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 attendance lifecycle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71389" y="1718630"/>
            <a:ext cx="2943225" cy="128588"/>
          </a:xfrm>
          <a:prstGeom prst="roundRect">
            <a:avLst>
              <a:gd name="adj" fmla="val 2963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4388" y="1711486"/>
            <a:ext cx="3629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 tracks: </a:t>
            </a:r>
            <a:r>
              <a:rPr lang="en-US" sz="759" dirty="0">
                <a:solidFill>
                  <a:srgbClr val="005662"/>
                </a:solidFill>
                <a:highlight>
                  <a:srgbClr val="E0F2F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Check-in → Available → Patients Assigned → Break → Check-out</a:t>
            </a:r>
            <a:r>
              <a:rPr lang="en-US" sz="759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759" dirty="0"/>
          </a:p>
        </p:txBody>
      </p:sp>
      <p:sp>
        <p:nvSpPr>
          <p:cNvPr id="17" name="Text 15"/>
          <p:cNvSpPr/>
          <p:nvPr/>
        </p:nvSpPr>
        <p:spPr>
          <a:xfrm>
            <a:off x="457200" y="1956160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1956160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kern="0" spc="2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4388" y="1956160"/>
            <a:ext cx="3992883" cy="129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app shows live status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26716" y="2120466"/>
            <a:ext cx="3255764" cy="128588"/>
          </a:xfrm>
          <a:prstGeom prst="roundRect">
            <a:avLst>
              <a:gd name="adj" fmla="val 2963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4388" y="2113322"/>
            <a:ext cx="36971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Example: </a:t>
            </a:r>
            <a:r>
              <a:rPr lang="en-US" sz="759" dirty="0">
                <a:solidFill>
                  <a:srgbClr val="005662"/>
                </a:solidFill>
                <a:highlight>
                  <a:srgbClr val="E0F2F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Dr. X — Available | Current patient: 8 | Waiting: 5 | Est. wait: 35 min</a:t>
            </a:r>
            <a:r>
              <a:rPr lang="en-US" sz="759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759" dirty="0"/>
          </a:p>
        </p:txBody>
      </p:sp>
      <p:sp>
        <p:nvSpPr>
          <p:cNvPr id="22" name="Text 20"/>
          <p:cNvSpPr/>
          <p:nvPr/>
        </p:nvSpPr>
        <p:spPr>
          <a:xfrm>
            <a:off x="457200" y="2357996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7200" y="2357996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kern="0" spc="2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14388" y="2357996"/>
            <a:ext cx="367827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uses this 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4388" y="2515158"/>
            <a:ext cx="35031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Biometric itself is data collection; AI uses availability data to manage queue better.</a:t>
            </a:r>
            <a:endParaRPr lang="en-US" sz="759" dirty="0"/>
          </a:p>
        </p:txBody>
      </p:sp>
      <p:sp>
        <p:nvSpPr>
          <p:cNvPr id="26" name="Text 24"/>
          <p:cNvSpPr/>
          <p:nvPr/>
        </p:nvSpPr>
        <p:spPr>
          <a:xfrm>
            <a:off x="460772" y="2777691"/>
            <a:ext cx="4519092" cy="321469"/>
          </a:xfrm>
          <a:prstGeom prst="roundRect">
            <a:avLst>
              <a:gd name="adj" fmla="val 35556"/>
            </a:avLst>
          </a:prstGeom>
          <a:solidFill>
            <a:srgbClr val="FFE9E6"/>
          </a:solidFill>
          <a:ln w="7144">
            <a:solidFill>
              <a:srgbClr val="FFC9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78644" y="286698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792956" y="2866988"/>
            <a:ext cx="40690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31" b="1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Note:</a:t>
            </a:r>
            <a:r>
              <a:rPr lang="en-US" sz="731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Biometric is identification/attendance — not AI. AI uses the resulting data.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5681290" y="1156060"/>
            <a:ext cx="2707481" cy="2586038"/>
          </a:xfrm>
          <a:prstGeom prst="roundRect">
            <a:avLst>
              <a:gd name="adj" fmla="val 8103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  <a:effectLst>
            <a:outerShdw blurRad="457200" dist="228600" dir="5400000" algn="bl" rotWithShape="0">
              <a:srgbClr val="005662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84862" y="1159632"/>
            <a:ext cx="2700338" cy="332184"/>
          </a:xfrm>
          <a:prstGeom prst="rect">
            <a:avLst/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99162" y="1256072"/>
            <a:ext cx="20773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29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App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75627" y="1235712"/>
            <a:ext cx="410475" cy="180023"/>
          </a:xfrm>
          <a:prstGeom prst="roundRect">
            <a:avLst>
              <a:gd name="adj" fmla="val 5285700"/>
            </a:avLst>
          </a:prstGeom>
          <a:solidFill>
            <a:srgbClr val="2E7D5B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90830" y="1245357"/>
            <a:ext cx="38007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50" dirty="0">
                <a:solidFill>
                  <a:srgbClr val="6FCB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13450" y="1620403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847740" y="1654693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6299225" y="1660587"/>
            <a:ext cx="10913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Dr. Ahmed Khan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99225" y="1846325"/>
            <a:ext cx="1091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703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Medical OPD · Room 14</a:t>
            </a:r>
            <a:endParaRPr lang="en-US" sz="703" dirty="0"/>
          </a:p>
        </p:txBody>
      </p:sp>
      <p:sp>
        <p:nvSpPr>
          <p:cNvPr id="38" name="Text 36"/>
          <p:cNvSpPr/>
          <p:nvPr/>
        </p:nvSpPr>
        <p:spPr>
          <a:xfrm>
            <a:off x="5813450" y="2208870"/>
            <a:ext cx="1896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702766" y="2174794"/>
            <a:ext cx="575148" cy="186023"/>
          </a:xfrm>
          <a:prstGeom prst="roundRect">
            <a:avLst>
              <a:gd name="adj" fmla="val 5115214"/>
            </a:avLst>
          </a:prstGeom>
          <a:solidFill>
            <a:srgbClr val="E5F4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686028" y="2184760"/>
            <a:ext cx="60862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E7D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Available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13450" y="2418717"/>
            <a:ext cx="2443163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13450" y="2502657"/>
            <a:ext cx="204333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 SERVING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772546" y="2486583"/>
            <a:ext cx="58259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</a:t>
            </a:r>
            <a:r>
              <a:rPr lang="en-US" sz="788" b="1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788" dirty="0"/>
          </a:p>
        </p:txBody>
      </p:sp>
      <p:sp>
        <p:nvSpPr>
          <p:cNvPr id="44" name="Shape 42"/>
          <p:cNvSpPr/>
          <p:nvPr/>
        </p:nvSpPr>
        <p:spPr>
          <a:xfrm>
            <a:off x="5813450" y="2704467"/>
            <a:ext cx="2443163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13450" y="2788407"/>
            <a:ext cx="237886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QUEUE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06606" y="2772333"/>
            <a:ext cx="9144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813450" y="2990217"/>
            <a:ext cx="2443163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13450" y="3074157"/>
            <a:ext cx="207894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EST. WAIT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855848" y="3058083"/>
            <a:ext cx="45159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~</a:t>
            </a:r>
            <a:r>
              <a:rPr lang="en-US" sz="788" b="1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r>
              <a:rPr lang="en-US" sz="788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min</a:t>
            </a:r>
            <a:endParaRPr lang="en-US" sz="788" dirty="0"/>
          </a:p>
        </p:txBody>
      </p:sp>
      <p:sp>
        <p:nvSpPr>
          <p:cNvPr id="50" name="Text 48"/>
          <p:cNvSpPr/>
          <p:nvPr/>
        </p:nvSpPr>
        <p:spPr>
          <a:xfrm>
            <a:off x="5813450" y="3372408"/>
            <a:ext cx="17387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39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PROGRESS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66459" y="3372408"/>
            <a:ext cx="8187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47" kern="0" spc="39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Patient 8 of 13</a:t>
            </a:r>
            <a:endParaRPr lang="en-US" sz="647" dirty="0"/>
          </a:p>
        </p:txBody>
      </p:sp>
      <p:sp>
        <p:nvSpPr>
          <p:cNvPr id="52" name="Text 50"/>
          <p:cNvSpPr/>
          <p:nvPr/>
        </p:nvSpPr>
        <p:spPr>
          <a:xfrm>
            <a:off x="5813450" y="3567075"/>
            <a:ext cx="2443163" cy="57150"/>
          </a:xfrm>
          <a:prstGeom prst="roundRect">
            <a:avLst>
              <a:gd name="adj" fmla="val 16650000"/>
            </a:avLst>
          </a:prstGeom>
          <a:solidFill>
            <a:srgbClr val="ECF2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450" y="3567075"/>
            <a:ext cx="1502532" cy="5715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91"/>
            <a:ext cx="633226" cy="212027"/>
          </a:xfrm>
          <a:prstGeom prst="roundRect">
            <a:avLst>
              <a:gd name="adj" fmla="val 4487860"/>
            </a:avLst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1927" y="400050"/>
            <a:ext cx="6637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7576" y="388691"/>
            <a:ext cx="727546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7967" y="400050"/>
            <a:ext cx="8867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FLOW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60797"/>
            <a:ext cx="8636000" cy="276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1800" b="1" kern="0" spc="-27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Patient Queue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988182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15248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0061" y="118534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71538" y="1152488"/>
            <a:ext cx="3173131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 with live updates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71538" y="1309650"/>
            <a:ext cx="30220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sees their token, who's being served, and how many are ahead.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57200" y="1566825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0061" y="159968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14" name="Text 12"/>
          <p:cNvSpPr/>
          <p:nvPr/>
        </p:nvSpPr>
        <p:spPr>
          <a:xfrm>
            <a:off x="871538" y="1566825"/>
            <a:ext cx="2222387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Estimated waiting 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1538" y="1723988"/>
            <a:ext cx="21165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shows realistic wait per doctor and department.</a:t>
            </a:r>
            <a:endParaRPr lang="en-US" sz="759" dirty="0"/>
          </a:p>
        </p:txBody>
      </p:sp>
      <p:sp>
        <p:nvSpPr>
          <p:cNvPr id="16" name="Text 14"/>
          <p:cNvSpPr/>
          <p:nvPr/>
        </p:nvSpPr>
        <p:spPr>
          <a:xfrm>
            <a:off x="457200" y="1981163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0061" y="201402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⏸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871538" y="1981163"/>
            <a:ext cx="2839808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Unavailability alerts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1538" y="2145469"/>
            <a:ext cx="2704579" cy="13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i="1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“Doctor temporarily unavailable — estimated delay 20 minutes.”</a:t>
            </a:r>
            <a:endParaRPr lang="en-US" sz="759" dirty="0"/>
          </a:p>
        </p:txBody>
      </p:sp>
      <p:sp>
        <p:nvSpPr>
          <p:cNvPr id="20" name="Text 18"/>
          <p:cNvSpPr/>
          <p:nvPr/>
        </p:nvSpPr>
        <p:spPr>
          <a:xfrm>
            <a:off x="457200" y="2395500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0061" y="242836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871538" y="2395500"/>
            <a:ext cx="3514477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estimation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1538" y="2552663"/>
            <a:ext cx="29987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Uses queue history + doctor availability + patient flow to estimate wait.</a:t>
            </a:r>
            <a:endParaRPr lang="en-US" sz="759" dirty="0"/>
          </a:p>
        </p:txBody>
      </p:sp>
      <p:sp>
        <p:nvSpPr>
          <p:cNvPr id="24" name="Text 22"/>
          <p:cNvSpPr/>
          <p:nvPr/>
        </p:nvSpPr>
        <p:spPr>
          <a:xfrm>
            <a:off x="5187032" y="1156060"/>
            <a:ext cx="3696109" cy="2591395"/>
          </a:xfrm>
          <a:prstGeom prst="roundRect">
            <a:avLst>
              <a:gd name="adj" fmla="val 6616"/>
            </a:avLst>
          </a:prstGeom>
          <a:solidFill>
            <a:srgbClr val="F1F8F9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47767" y="1316794"/>
            <a:ext cx="3374641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TOKEN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47767" y="1463241"/>
            <a:ext cx="3374641" cy="648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25"/>
              </a:lnSpc>
              <a:buNone/>
            </a:pPr>
            <a:r>
              <a:rPr lang="en-US" sz="4725" b="1" kern="0" spc="-189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A-127</a:t>
            </a:r>
            <a:endParaRPr lang="en-US" sz="4725" dirty="0"/>
          </a:p>
        </p:txBody>
      </p:sp>
      <p:sp>
        <p:nvSpPr>
          <p:cNvPr id="30" name="Text 28"/>
          <p:cNvSpPr/>
          <p:nvPr/>
        </p:nvSpPr>
        <p:spPr>
          <a:xfrm>
            <a:off x="5347767" y="2177616"/>
            <a:ext cx="727465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600" b="1" kern="0" spc="71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 SERVING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347767" y="2304417"/>
            <a:ext cx="91178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kern="0" spc="-12" dirty="0">
                <a:solidFill>
                  <a:srgbClr val="D845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A-119</a:t>
            </a:r>
            <a:endParaRPr lang="en-US" sz="1238" dirty="0"/>
          </a:p>
        </p:txBody>
      </p:sp>
      <p:sp>
        <p:nvSpPr>
          <p:cNvPr id="32" name="Text 30"/>
          <p:cNvSpPr/>
          <p:nvPr/>
        </p:nvSpPr>
        <p:spPr>
          <a:xfrm>
            <a:off x="6153448" y="2177616"/>
            <a:ext cx="759687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600" b="1" kern="0" spc="71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AHEAD OF YOU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153448" y="2304417"/>
            <a:ext cx="96422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kern="0" spc="-12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5347767" y="2654461"/>
            <a:ext cx="28295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39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QUEUE POSITION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72671" y="2654461"/>
            <a:ext cx="5687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47" kern="0" spc="39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/ 15 · 53%</a:t>
            </a:r>
            <a:endParaRPr lang="en-US" sz="647" dirty="0"/>
          </a:p>
        </p:txBody>
      </p:sp>
      <p:sp>
        <p:nvSpPr>
          <p:cNvPr id="36" name="Text 34"/>
          <p:cNvSpPr/>
          <p:nvPr/>
        </p:nvSpPr>
        <p:spPr>
          <a:xfrm>
            <a:off x="5351338" y="2824125"/>
            <a:ext cx="3367497" cy="64294"/>
          </a:xfrm>
          <a:prstGeom prst="roundRect">
            <a:avLst>
              <a:gd name="adj" fmla="val 14799942"/>
            </a:avLst>
          </a:prstGeom>
          <a:solidFill>
            <a:srgbClr val="FFFFFF"/>
          </a:solidFill>
          <a:ln w="7144">
            <a:solidFill>
              <a:srgbClr val="ECF2F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910" y="2827697"/>
            <a:ext cx="1780915" cy="5715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347767" y="2979202"/>
            <a:ext cx="938957" cy="248845"/>
          </a:xfrm>
          <a:prstGeom prst="roundRect">
            <a:avLst>
              <a:gd name="adj" fmla="val 3823856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583510" y="3049153"/>
            <a:ext cx="731788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47" dirty="0">
                <a:solidFill>
                  <a:srgbClr val="2C4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~30–40 min est.</a:t>
            </a:r>
            <a:endParaRPr lang="en-US" sz="647" dirty="0"/>
          </a:p>
        </p:txBody>
      </p:sp>
      <p:sp>
        <p:nvSpPr>
          <p:cNvPr id="40" name="Text 37"/>
          <p:cNvSpPr/>
          <p:nvPr/>
        </p:nvSpPr>
        <p:spPr>
          <a:xfrm>
            <a:off x="5440635" y="305361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84" dirty="0"/>
          </a:p>
        </p:txBody>
      </p:sp>
      <p:sp>
        <p:nvSpPr>
          <p:cNvPr id="41" name="Text 38"/>
          <p:cNvSpPr/>
          <p:nvPr/>
        </p:nvSpPr>
        <p:spPr>
          <a:xfrm>
            <a:off x="6343873" y="2979202"/>
            <a:ext cx="786482" cy="248845"/>
          </a:xfrm>
          <a:prstGeom prst="roundRect">
            <a:avLst>
              <a:gd name="adj" fmla="val 3823856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569891" y="3049153"/>
            <a:ext cx="598765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47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OPD</a:t>
            </a:r>
            <a:endParaRPr lang="en-US" sz="647" dirty="0"/>
          </a:p>
        </p:txBody>
      </p:sp>
      <p:sp>
        <p:nvSpPr>
          <p:cNvPr id="43" name="Text 40"/>
          <p:cNvSpPr/>
          <p:nvPr/>
        </p:nvSpPr>
        <p:spPr>
          <a:xfrm>
            <a:off x="6436742" y="305361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84" dirty="0"/>
          </a:p>
        </p:txBody>
      </p:sp>
      <p:sp>
        <p:nvSpPr>
          <p:cNvPr id="44" name="Text 41"/>
          <p:cNvSpPr/>
          <p:nvPr/>
        </p:nvSpPr>
        <p:spPr>
          <a:xfrm>
            <a:off x="7187505" y="2979202"/>
            <a:ext cx="1014747" cy="248845"/>
          </a:xfrm>
          <a:prstGeom prst="roundRect">
            <a:avLst>
              <a:gd name="adj" fmla="val 3823856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7423249" y="3049153"/>
            <a:ext cx="1299158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Dr. Ahmed · Rm 14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280374" y="305361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84" dirty="0"/>
          </a:p>
        </p:txBody>
      </p:sp>
      <p:sp>
        <p:nvSpPr>
          <p:cNvPr id="47" name="Text 44"/>
          <p:cNvSpPr/>
          <p:nvPr/>
        </p:nvSpPr>
        <p:spPr>
          <a:xfrm>
            <a:off x="5351338" y="3318830"/>
            <a:ext cx="3367497" cy="292894"/>
          </a:xfrm>
          <a:prstGeom prst="roundRect">
            <a:avLst>
              <a:gd name="adj" fmla="val 39024"/>
            </a:avLst>
          </a:prstGeom>
          <a:solidFill>
            <a:srgbClr val="FFE9E6"/>
          </a:solidFill>
          <a:ln w="7144">
            <a:solidFill>
              <a:srgbClr val="FFC9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5454923" y="34009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49" name="Text 46"/>
          <p:cNvSpPr/>
          <p:nvPr/>
        </p:nvSpPr>
        <p:spPr>
          <a:xfrm>
            <a:off x="5654948" y="3402769"/>
            <a:ext cx="296744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on a short break. Updated wait: ~50 min.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91"/>
            <a:ext cx="633226" cy="212027"/>
          </a:xfrm>
          <a:prstGeom prst="roundRect">
            <a:avLst>
              <a:gd name="adj" fmla="val 4487860"/>
            </a:avLst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1927" y="400050"/>
            <a:ext cx="6637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7576" y="388691"/>
            <a:ext cx="1179500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7576" y="400050"/>
            <a:ext cx="11795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INFORMATION ORGANIZER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60797"/>
            <a:ext cx="863600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1800" b="1" kern="0" spc="-27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Patient Pre-Assessment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988182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2938" y="1166775"/>
            <a:ext cx="811764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kern="0" spc="-4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enters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457200" y="116856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266" dirty="0"/>
          </a:p>
        </p:txBody>
      </p:sp>
      <p:sp>
        <p:nvSpPr>
          <p:cNvPr id="10" name="Text 8"/>
          <p:cNvSpPr/>
          <p:nvPr/>
        </p:nvSpPr>
        <p:spPr>
          <a:xfrm>
            <a:off x="460772" y="1400733"/>
            <a:ext cx="2227399" cy="226814"/>
          </a:xfrm>
          <a:prstGeom prst="roundRect">
            <a:avLst>
              <a:gd name="adj" fmla="val 33596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1397161"/>
            <a:ext cx="223454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52465" y="1400733"/>
            <a:ext cx="2227399" cy="226814"/>
          </a:xfrm>
          <a:prstGeom prst="roundRect">
            <a:avLst>
              <a:gd name="adj" fmla="val 33596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48893" y="1397161"/>
            <a:ext cx="223454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 complaint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1677553"/>
            <a:ext cx="2227399" cy="226814"/>
          </a:xfrm>
          <a:prstGeom prst="roundRect">
            <a:avLst>
              <a:gd name="adj" fmla="val 33596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1673982"/>
            <a:ext cx="223454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Duration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52465" y="1677553"/>
            <a:ext cx="2227399" cy="226814"/>
          </a:xfrm>
          <a:prstGeom prst="roundRect">
            <a:avLst>
              <a:gd name="adj" fmla="val 33596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48893" y="1673982"/>
            <a:ext cx="223454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Existing conditions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0772" y="1954374"/>
            <a:ext cx="2227399" cy="226814"/>
          </a:xfrm>
          <a:prstGeom prst="roundRect">
            <a:avLst>
              <a:gd name="adj" fmla="val 33596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1950802"/>
            <a:ext cx="223454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medicines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52465" y="1954374"/>
            <a:ext cx="2227399" cy="226814"/>
          </a:xfrm>
          <a:prstGeom prst="roundRect">
            <a:avLst>
              <a:gd name="adj" fmla="val 33596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48893" y="1950802"/>
            <a:ext cx="223454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Allergies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0772" y="2231194"/>
            <a:ext cx="4519092" cy="226814"/>
          </a:xfrm>
          <a:prstGeom prst="roundRect">
            <a:avLst>
              <a:gd name="adj" fmla="val 33596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7200" y="2227622"/>
            <a:ext cx="45262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Previous reports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7615" y="2590167"/>
            <a:ext cx="68995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kern="0" spc="-4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creates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457200" y="25919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457200" y="2806266"/>
            <a:ext cx="4526235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structured summary on a single screen — so the doctor sees key information before the patient walks in.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0772" y="3208772"/>
            <a:ext cx="4519092" cy="437555"/>
          </a:xfrm>
          <a:prstGeom prst="roundRect">
            <a:avLst>
              <a:gd name="adj" fmla="val 26122"/>
            </a:avLst>
          </a:prstGeom>
          <a:solidFill>
            <a:srgbClr val="FFE9E6"/>
          </a:solidFill>
          <a:ln w="7144">
            <a:solidFill>
              <a:srgbClr val="FFC9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4356" y="329806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778669" y="3298068"/>
            <a:ext cx="409761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Boundary:</a:t>
            </a:r>
            <a:r>
              <a:rPr lang="en-US" sz="800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AI summarizes information only. It does NOT diagnose and does NOT prescribe. Final assessment and treatment remain the doctor's responsibility.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87032" y="1156060"/>
            <a:ext cx="3696109" cy="2339578"/>
          </a:xfrm>
          <a:prstGeom prst="roundRect">
            <a:avLst>
              <a:gd name="adj" fmla="val 6514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  <a:effectLst>
            <a:outerShdw blurRad="342900" dist="171450" dir="5400000" algn="bl" rotWithShape="0">
              <a:srgbClr val="005662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90604" y="1159632"/>
            <a:ext cx="3688966" cy="441127"/>
          </a:xfrm>
          <a:prstGeom prst="rect">
            <a:avLst/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04904" y="1265895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315620" y="127661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406" dirty="0"/>
          </a:p>
        </p:txBody>
      </p:sp>
      <p:sp>
        <p:nvSpPr>
          <p:cNvPr id="34" name="Text 32"/>
          <p:cNvSpPr/>
          <p:nvPr/>
        </p:nvSpPr>
        <p:spPr>
          <a:xfrm>
            <a:off x="5604942" y="1245357"/>
            <a:ext cx="1833216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b="1" kern="0" spc="29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Dashboard — Patient Summary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5604942" y="1391803"/>
            <a:ext cx="178229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FFFFFF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Patient: A-127 · 42 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04904" y="1729346"/>
            <a:ext cx="9883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b="1" kern="0" spc="59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COMPLAINT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47854" y="1715058"/>
            <a:ext cx="2717416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Lower back pain, 5 days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04904" y="1912851"/>
            <a:ext cx="3460366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4904" y="1995004"/>
            <a:ext cx="988353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b="1" kern="0" spc="59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47854" y="1980716"/>
            <a:ext cx="2717416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Hypertension (controlled)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04904" y="2178509"/>
            <a:ext cx="3460366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4904" y="2260662"/>
            <a:ext cx="1051560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b="1" kern="0" spc="59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47854" y="2246375"/>
            <a:ext cx="2717416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Amlodipine 5mg, daily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304904" y="2444167"/>
            <a:ext cx="3460366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4904" y="2526320"/>
            <a:ext cx="988353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b="1" kern="0" spc="59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ALLERGIES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47854" y="2512033"/>
            <a:ext cx="2717416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Penicillin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08476" y="2795550"/>
            <a:ext cx="3453222" cy="408980"/>
          </a:xfrm>
          <a:prstGeom prst="roundRect">
            <a:avLst>
              <a:gd name="adj" fmla="val 23290"/>
            </a:avLst>
          </a:prstGeom>
          <a:solidFill>
            <a:srgbClr val="E0F2F4"/>
          </a:solidFill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397773" y="287056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5569223" y="2870560"/>
            <a:ext cx="310317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summary:</a:t>
            </a:r>
            <a:r>
              <a:rPr lang="en-US" sz="800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Acute-onset lower back pain in controlled hypertensive — no red flags noted by patient.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90604" y="3265252"/>
            <a:ext cx="35746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86"/>
              </a:lnSpc>
              <a:buNone/>
            </a:pPr>
            <a:r>
              <a:rPr lang="en-US" sz="800" i="1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doctor review. Not a diagnosis.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91"/>
            <a:ext cx="633226" cy="212027"/>
          </a:xfrm>
          <a:prstGeom prst="roundRect">
            <a:avLst>
              <a:gd name="adj" fmla="val 4487860"/>
            </a:avLst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1927" y="400050"/>
            <a:ext cx="6637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7576" y="388691"/>
            <a:ext cx="936166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7576" y="400050"/>
            <a:ext cx="9361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EMERGENCY · 24/7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75084"/>
            <a:ext cx="8636000" cy="36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73"/>
              </a:lnSpc>
              <a:buNone/>
            </a:pPr>
            <a:r>
              <a:rPr lang="en-US" sz="2475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AI Fast Track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457200" y="1100249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0772" y="1268127"/>
            <a:ext cx="811150" cy="1122350"/>
          </a:xfrm>
          <a:prstGeom prst="roundRect">
            <a:avLst>
              <a:gd name="adj" fmla="val 14091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5781" y="1357424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5781" y="135742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5781" y="1600312"/>
            <a:ext cx="661132" cy="242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2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Arrival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5781" y="1869765"/>
            <a:ext cx="661132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arrives at A&amp;E.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04069" y="17649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1464804" y="1268127"/>
            <a:ext cx="811262" cy="1122350"/>
          </a:xfrm>
          <a:prstGeom prst="roundRect">
            <a:avLst>
              <a:gd name="adj" fmla="val 14089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39813" y="1357424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39813" y="135742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39813" y="1600312"/>
            <a:ext cx="661243" cy="242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2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Quick Identification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39813" y="1869765"/>
            <a:ext cx="700918" cy="43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Name + age + contact captured in under 30 seconds.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08213" y="17649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2468947" y="1268127"/>
            <a:ext cx="811262" cy="1122350"/>
          </a:xfrm>
          <a:prstGeom prst="roundRect">
            <a:avLst>
              <a:gd name="adj" fmla="val 14089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43956" y="1357424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3956" y="135742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43956" y="1600312"/>
            <a:ext cx="661243" cy="242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2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Basic Information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43956" y="1869765"/>
            <a:ext cx="700918" cy="43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Chief complaint + allergies + brief history.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12356" y="17649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3473090" y="1268127"/>
            <a:ext cx="811262" cy="1122350"/>
          </a:xfrm>
          <a:prstGeom prst="roundRect">
            <a:avLst>
              <a:gd name="adj" fmla="val 14089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48100" y="1357424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48100" y="135742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48100" y="1600312"/>
            <a:ext cx="661243" cy="242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2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Immediate Clinical Triage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48100" y="1990651"/>
            <a:ext cx="700918" cy="43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Nurse-led triage assigns priority level.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16499" y="17649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4477234" y="1268127"/>
            <a:ext cx="811262" cy="1122350"/>
          </a:xfrm>
          <a:prstGeom prst="roundRect">
            <a:avLst>
              <a:gd name="adj" fmla="val 14089"/>
            </a:avLst>
          </a:prstGeom>
          <a:solidFill>
            <a:srgbClr val="FFE9E6"/>
          </a:solidFill>
          <a:ln w="7144">
            <a:solidFill>
              <a:srgbClr val="FF6B5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52243" y="1357424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552243" y="135742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52243" y="1600312"/>
            <a:ext cx="661243" cy="355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2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Team → Treatment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52243" y="1983060"/>
            <a:ext cx="700918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Handoff to emergency team; care begins.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0772" y="2511921"/>
            <a:ext cx="4827724" cy="364331"/>
          </a:xfrm>
          <a:prstGeom prst="roundRect">
            <a:avLst>
              <a:gd name="adj" fmla="val 36601"/>
            </a:avLst>
          </a:prstGeom>
          <a:solidFill>
            <a:srgbClr val="E0F2F4"/>
          </a:solidFill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92931" y="261550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39" name="Text 37"/>
          <p:cNvSpPr/>
          <p:nvPr/>
        </p:nvSpPr>
        <p:spPr>
          <a:xfrm>
            <a:off x="835819" y="2624100"/>
            <a:ext cx="4320518" cy="14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Registration and payment happen </a:t>
            </a:r>
            <a:r>
              <a:rPr lang="en-US" sz="800" b="1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parallel</a:t>
            </a:r>
            <a:r>
              <a:rPr lang="en-US" sz="80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never block emergency care.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0772" y="2997696"/>
            <a:ext cx="1547292" cy="444252"/>
          </a:xfrm>
          <a:prstGeom prst="roundRect">
            <a:avLst>
              <a:gd name="adj" fmla="val 25729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64356" y="3072705"/>
            <a:ext cx="134012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IDENTIFICATION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4356" y="3194149"/>
            <a:ext cx="1340123" cy="172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1"/>
              </a:lnSpc>
              <a:buNone/>
            </a:pPr>
            <a:r>
              <a:rPr lang="en-US" sz="1238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30 sec</a:t>
            </a:r>
            <a:endParaRPr lang="en-US" sz="1238" dirty="0"/>
          </a:p>
        </p:txBody>
      </p:sp>
      <p:sp>
        <p:nvSpPr>
          <p:cNvPr id="43" name="Text 41"/>
          <p:cNvSpPr/>
          <p:nvPr/>
        </p:nvSpPr>
        <p:spPr>
          <a:xfrm>
            <a:off x="2100932" y="2997696"/>
            <a:ext cx="1547292" cy="444252"/>
          </a:xfrm>
          <a:prstGeom prst="roundRect">
            <a:avLst>
              <a:gd name="adj" fmla="val 25729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204517" y="3072705"/>
            <a:ext cx="134012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PATH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204517" y="3194149"/>
            <a:ext cx="1340123" cy="172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1"/>
              </a:lnSpc>
              <a:buNone/>
            </a:pPr>
            <a:r>
              <a:rPr lang="en-US" sz="1238" dirty="0">
                <a:solidFill>
                  <a:srgbClr val="0056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</a:t>
            </a:r>
            <a:endParaRPr lang="en-US" sz="1238" dirty="0"/>
          </a:p>
        </p:txBody>
      </p:sp>
      <p:sp>
        <p:nvSpPr>
          <p:cNvPr id="46" name="Text 44"/>
          <p:cNvSpPr/>
          <p:nvPr/>
        </p:nvSpPr>
        <p:spPr>
          <a:xfrm>
            <a:off x="3741093" y="2997696"/>
            <a:ext cx="1547292" cy="444252"/>
          </a:xfrm>
          <a:prstGeom prst="roundRect">
            <a:avLst>
              <a:gd name="adj" fmla="val 25729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844677" y="3072705"/>
            <a:ext cx="134012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A&amp;E AVAILABILITY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844677" y="3194149"/>
            <a:ext cx="1340123" cy="172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1"/>
              </a:lnSpc>
              <a:buNone/>
            </a:pPr>
            <a:r>
              <a:rPr lang="en-US" sz="1238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/ 7</a:t>
            </a:r>
            <a:endParaRPr lang="en-US" sz="1238" dirty="0"/>
          </a:p>
        </p:txBody>
      </p:sp>
      <p:sp>
        <p:nvSpPr>
          <p:cNvPr id="49" name="Text 47"/>
          <p:cNvSpPr/>
          <p:nvPr/>
        </p:nvSpPr>
        <p:spPr>
          <a:xfrm>
            <a:off x="5467090" y="1268127"/>
            <a:ext cx="3216139" cy="3471751"/>
          </a:xfrm>
          <a:prstGeom prst="roundRect">
            <a:avLst>
              <a:gd name="adj" fmla="val 4739"/>
            </a:avLst>
          </a:prstGeom>
          <a:noFill/>
          <a:ln w="7144">
            <a:solidFill>
              <a:srgbClr val="D9E5E8"/>
            </a:solidFill>
            <a:prstDash val="solid"/>
          </a:ln>
          <a:effectLst>
            <a:outerShdw blurRad="228600" dist="76200" dir="5400000" algn="bl" rotWithShape="0">
              <a:srgbClr val="0F2A3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0" descr="/tmp/h2p-fit-1790056703835-ztum4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661" y="1271699"/>
            <a:ext cx="3208995" cy="3464607"/>
          </a:xfrm>
          <a:prstGeom prst="rect">
            <a:avLst/>
          </a:prstGeom>
        </p:spPr>
      </p:pic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661" y="1271699"/>
            <a:ext cx="3208995" cy="3464607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5556386" y="1346066"/>
            <a:ext cx="462781" cy="212027"/>
          </a:xfrm>
          <a:prstGeom prst="roundRect">
            <a:avLst>
              <a:gd name="adj" fmla="val 4487860"/>
            </a:avLst>
          </a:prstGeom>
          <a:solidFill>
            <a:srgbClr val="FFFFFF">
              <a:alpha val="9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5777843" y="1400287"/>
            <a:ext cx="26990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A&amp;E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5642111" y="140564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55" name="Text 51"/>
          <p:cNvSpPr/>
          <p:nvPr/>
        </p:nvSpPr>
        <p:spPr>
          <a:xfrm>
            <a:off x="6076317" y="1346066"/>
            <a:ext cx="508322" cy="212027"/>
          </a:xfrm>
          <a:prstGeom prst="roundRect">
            <a:avLst>
              <a:gd name="adj" fmla="val 4487860"/>
            </a:avLst>
          </a:prstGeom>
          <a:solidFill>
            <a:srgbClr val="FFFFFF">
              <a:alpha val="9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6284956" y="1400287"/>
            <a:ext cx="312501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D845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24/7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6162042" y="140564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14" dirty="0"/>
          </a:p>
        </p:txBody>
      </p:sp>
      <p:sp>
        <p:nvSpPr>
          <p:cNvPr id="58" name="Text 54"/>
          <p:cNvSpPr/>
          <p:nvPr/>
        </p:nvSpPr>
        <p:spPr>
          <a:xfrm>
            <a:off x="5470661" y="4449887"/>
            <a:ext cx="3208995" cy="286420"/>
          </a:xfrm>
          <a:prstGeom prst="rect">
            <a:avLst/>
          </a:prstGeom>
          <a:solidFill>
            <a:srgbClr val="002A30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5556386" y="4535612"/>
            <a:ext cx="3037545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A&amp;E is operational 24/7 — emergency pathway is core to this system.</a:t>
            </a:r>
            <a:endParaRPr lang="en-US" sz="647" dirty="0"/>
          </a:p>
        </p:txBody>
      </p:sp>
      <p:sp>
        <p:nvSpPr>
          <p:cNvPr id="60" name="Text 56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91"/>
            <a:ext cx="633226" cy="212027"/>
          </a:xfrm>
          <a:prstGeom prst="roundRect">
            <a:avLst>
              <a:gd name="adj" fmla="val 4487860"/>
            </a:avLst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1927" y="400050"/>
            <a:ext cx="6637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7576" y="388691"/>
            <a:ext cx="820080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3853" y="400050"/>
            <a:ext cx="92752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75084"/>
            <a:ext cx="8636000" cy="36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73"/>
              </a:lnSpc>
              <a:buNone/>
            </a:pPr>
            <a:r>
              <a:rPr lang="en-US" sz="2475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Sensor-Based Vitals (Kiosk / Station)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457200" y="1100249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0772" y="1268127"/>
            <a:ext cx="4424883" cy="492919"/>
          </a:xfrm>
          <a:prstGeom prst="roundRect">
            <a:avLst>
              <a:gd name="adj" fmla="val 23188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4356" y="1357424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978694" y="1357424"/>
            <a:ext cx="204705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core vitals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78694" y="1496727"/>
            <a:ext cx="194957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BP, Heart Rate / Pulse, Temperature, SpO₂, Weight.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60772" y="1853915"/>
            <a:ext cx="4424883" cy="492919"/>
          </a:xfrm>
          <a:prstGeom prst="roundRect">
            <a:avLst>
              <a:gd name="adj" fmla="val 23188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4356" y="1943212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78694" y="1943212"/>
            <a:ext cx="2061418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Attached to digital record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78694" y="2082515"/>
            <a:ext cx="190872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Readings link to the patient's record automatically.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60772" y="2439702"/>
            <a:ext cx="4424883" cy="492919"/>
          </a:xfrm>
          <a:prstGeom prst="roundRect">
            <a:avLst>
              <a:gd name="adj" fmla="val 23188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4356" y="2528999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78694" y="2528999"/>
            <a:ext cx="2307342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Pre-consult availability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78694" y="2668302"/>
            <a:ext cx="213642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dashboard shows vitals before the patient enters.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60772" y="3025490"/>
            <a:ext cx="4424883" cy="492919"/>
          </a:xfrm>
          <a:prstGeom prst="roundRect">
            <a:avLst>
              <a:gd name="adj" fmla="val 23188"/>
            </a:avLst>
          </a:prstGeom>
          <a:solidFill>
            <a:srgbClr val="FFE9E6"/>
          </a:solidFill>
          <a:ln w="7144">
            <a:solidFill>
              <a:srgbClr val="FF6B5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4356" y="3114787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78694" y="3114787"/>
            <a:ext cx="307433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flags for review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78694" y="3254090"/>
            <a:ext cx="292793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organizes data and flags unusual readings for staff review — </a:t>
            </a:r>
            <a:r>
              <a:rPr lang="en-US" sz="675" b="1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diagnosis</a:t>
            </a:r>
            <a:r>
              <a:rPr lang="en-US" sz="67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5064249" y="1268127"/>
            <a:ext cx="3618979" cy="3471751"/>
          </a:xfrm>
          <a:prstGeom prst="roundRect">
            <a:avLst>
              <a:gd name="adj" fmla="val 4390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67821" y="1271699"/>
            <a:ext cx="3611835" cy="321469"/>
          </a:xfrm>
          <a:prstGeom prst="rect">
            <a:avLst/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96408" y="1357424"/>
            <a:ext cx="30903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6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Vitals Kiosk — A-127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01038" y="1407430"/>
            <a:ext cx="50006" cy="50006"/>
          </a:xfrm>
          <a:prstGeom prst="roundRect">
            <a:avLst>
              <a:gd name="adj" fmla="val 66667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301038" y="1378855"/>
            <a:ext cx="25003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D7F5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067821" y="1946783"/>
            <a:ext cx="3611835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6433" y="1719076"/>
            <a:ext cx="1894322" cy="13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BLOOD PRESSURE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96408" y="17038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8090855" y="1695859"/>
            <a:ext cx="460214" cy="144661"/>
          </a:xfrm>
          <a:prstGeom prst="roundRect">
            <a:avLst>
              <a:gd name="adj" fmla="val 6577775"/>
            </a:avLst>
          </a:prstGeom>
          <a:solidFill>
            <a:srgbClr val="FFF1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305042" y="1686037"/>
            <a:ext cx="1246026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138 / 88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7852243" y="1709254"/>
            <a:ext cx="2969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mmHg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90855" y="1687180"/>
            <a:ext cx="460214" cy="162020"/>
          </a:xfrm>
          <a:prstGeom prst="roundRect">
            <a:avLst>
              <a:gd name="adj" fmla="val 5873025"/>
            </a:avLst>
          </a:prstGeom>
          <a:solidFill>
            <a:srgbClr val="FFF1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005860" y="1695859"/>
            <a:ext cx="63020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b="1" kern="0" spc="43" dirty="0">
                <a:solidFill>
                  <a:srgbClr val="C77A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ELEVATED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67821" y="2303971"/>
            <a:ext cx="3611835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6433" y="2076264"/>
            <a:ext cx="2836738" cy="13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96408" y="20610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8247459" y="2043224"/>
            <a:ext cx="303609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84</a:t>
            </a:r>
            <a:endParaRPr lang="en-US" sz="1013" dirty="0"/>
          </a:p>
        </p:txBody>
      </p:sp>
      <p:sp>
        <p:nvSpPr>
          <p:cNvPr id="41" name="Text 39"/>
          <p:cNvSpPr/>
          <p:nvPr/>
        </p:nvSpPr>
        <p:spPr>
          <a:xfrm>
            <a:off x="8406055" y="2066441"/>
            <a:ext cx="1721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bpm</a:t>
            </a:r>
            <a:endParaRPr lang="en-US" sz="619" dirty="0"/>
          </a:p>
        </p:txBody>
      </p:sp>
      <p:sp>
        <p:nvSpPr>
          <p:cNvPr id="42" name="Shape 40"/>
          <p:cNvSpPr/>
          <p:nvPr/>
        </p:nvSpPr>
        <p:spPr>
          <a:xfrm>
            <a:off x="5067821" y="2661158"/>
            <a:ext cx="3611835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96433" y="2433451"/>
            <a:ext cx="2755255" cy="13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TEMPERATURE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96408" y="24182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5" name="Text 43"/>
          <p:cNvSpPr/>
          <p:nvPr/>
        </p:nvSpPr>
        <p:spPr>
          <a:xfrm>
            <a:off x="8160768" y="2400412"/>
            <a:ext cx="395509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98.6</a:t>
            </a:r>
            <a:endParaRPr lang="en-US" sz="1013" dirty="0"/>
          </a:p>
        </p:txBody>
      </p:sp>
      <p:sp>
        <p:nvSpPr>
          <p:cNvPr id="46" name="Text 44"/>
          <p:cNvSpPr/>
          <p:nvPr/>
        </p:nvSpPr>
        <p:spPr>
          <a:xfrm>
            <a:off x="8462661" y="2423629"/>
            <a:ext cx="12672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°F</a:t>
            </a:r>
            <a:endParaRPr lang="en-US" sz="619" dirty="0"/>
          </a:p>
        </p:txBody>
      </p:sp>
      <p:sp>
        <p:nvSpPr>
          <p:cNvPr id="47" name="Shape 45"/>
          <p:cNvSpPr/>
          <p:nvPr/>
        </p:nvSpPr>
        <p:spPr>
          <a:xfrm>
            <a:off x="5067821" y="3018346"/>
            <a:ext cx="3611835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6433" y="2790639"/>
            <a:ext cx="2915320" cy="13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SPO₂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96408" y="27754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50" name="Text 48"/>
          <p:cNvSpPr/>
          <p:nvPr/>
        </p:nvSpPr>
        <p:spPr>
          <a:xfrm>
            <a:off x="8326041" y="2757599"/>
            <a:ext cx="225028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97</a:t>
            </a:r>
            <a:endParaRPr lang="en-US" sz="1013" dirty="0"/>
          </a:p>
        </p:txBody>
      </p:sp>
      <p:sp>
        <p:nvSpPr>
          <p:cNvPr id="51" name="Text 49"/>
          <p:cNvSpPr/>
          <p:nvPr/>
        </p:nvSpPr>
        <p:spPr>
          <a:xfrm>
            <a:off x="8511778" y="2780816"/>
            <a:ext cx="9144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96433" y="3147826"/>
            <a:ext cx="2747442" cy="13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WEIGHT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96408" y="31326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54" name="Text 52"/>
          <p:cNvSpPr/>
          <p:nvPr/>
        </p:nvSpPr>
        <p:spPr>
          <a:xfrm>
            <a:off x="8158163" y="3114787"/>
            <a:ext cx="41148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72.4</a:t>
            </a:r>
            <a:endParaRPr lang="en-US" sz="1013" dirty="0"/>
          </a:p>
        </p:txBody>
      </p:sp>
      <p:sp>
        <p:nvSpPr>
          <p:cNvPr id="55" name="Text 53"/>
          <p:cNvSpPr/>
          <p:nvPr/>
        </p:nvSpPr>
        <p:spPr>
          <a:xfrm>
            <a:off x="8454445" y="3138004"/>
            <a:ext cx="1602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kg</a:t>
            </a:r>
            <a:endParaRPr lang="en-US" sz="800" dirty="0"/>
          </a:p>
        </p:txBody>
      </p:sp>
      <p:pic>
        <p:nvPicPr>
          <p:cNvPr id="56" name="Image 0" descr="/tmp/h2p-fit-1790056703433-aew6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821" y="4164806"/>
            <a:ext cx="3611835" cy="571500"/>
          </a:xfrm>
          <a:prstGeom prst="rect">
            <a:avLst/>
          </a:prstGeom>
        </p:spPr>
      </p:pic>
      <p:pic>
        <p:nvPicPr>
          <p:cNvPr id="5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821" y="4164806"/>
            <a:ext cx="3611835" cy="571500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5159261" y="4344543"/>
            <a:ext cx="1434845" cy="212027"/>
          </a:xfrm>
          <a:prstGeom prst="roundRect">
            <a:avLst>
              <a:gd name="adj" fmla="val 4487860"/>
            </a:avLst>
          </a:prstGeom>
          <a:solidFill>
            <a:srgbClr val="FFFFFF">
              <a:alpha val="9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5403577" y="4398764"/>
            <a:ext cx="3276079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KIOSK SELF-MEASUREMENT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5267846" y="440412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☞</a:t>
            </a:r>
            <a:endParaRPr lang="en-US" sz="914" dirty="0"/>
          </a:p>
        </p:txBody>
      </p:sp>
      <p:sp>
        <p:nvSpPr>
          <p:cNvPr id="61" name="Text 57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91"/>
            <a:ext cx="633226" cy="212027"/>
          </a:xfrm>
          <a:prstGeom prst="roundRect">
            <a:avLst>
              <a:gd name="adj" fmla="val 4487860"/>
            </a:avLst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1927" y="400050"/>
            <a:ext cx="6637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7576" y="388691"/>
            <a:ext cx="663029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89658" y="400050"/>
            <a:ext cx="778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75084"/>
            <a:ext cx="8636000" cy="36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73"/>
              </a:lnSpc>
              <a:buNone/>
            </a:pPr>
            <a:r>
              <a:rPr lang="en-US" sz="2475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Queue Management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457200" y="1100249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264555"/>
            <a:ext cx="4029075" cy="645951"/>
          </a:xfrm>
          <a:prstGeom prst="roundRect">
            <a:avLst>
              <a:gd name="adj" fmla="val 17695"/>
            </a:avLst>
          </a:prstGeom>
          <a:solidFill>
            <a:srgbClr val="F1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268127"/>
            <a:ext cx="4029075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2703" y="1264555"/>
            <a:ext cx="0" cy="645951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06935"/>
            <a:ext cx="4029075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488" y="1264555"/>
            <a:ext cx="0" cy="645951"/>
          </a:xfrm>
          <a:prstGeom prst="line">
            <a:avLst/>
          </a:prstGeom>
          <a:noFill/>
          <a:ln w="28575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075" y="1371712"/>
            <a:ext cx="3764756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 continuously monitors doctor availability, waiting patients, consultation flow, department capacity, and emergency load — then updates estimated waiting times across the hospital.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1999804"/>
            <a:ext cx="4021931" cy="492919"/>
          </a:xfrm>
          <a:prstGeom prst="roundRect">
            <a:avLst>
              <a:gd name="adj" fmla="val 23188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4356" y="2089100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78694" y="2089100"/>
            <a:ext cx="2771831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monitoring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78694" y="2228404"/>
            <a:ext cx="263983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Availability, waiting count, consultation flow, capacity, emergency load.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60772" y="2585591"/>
            <a:ext cx="4021931" cy="492919"/>
          </a:xfrm>
          <a:prstGeom prst="roundRect">
            <a:avLst>
              <a:gd name="adj" fmla="val 23188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4356" y="2674888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978694" y="2674888"/>
            <a:ext cx="169169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Per-doctor estimates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78694" y="2814191"/>
            <a:ext cx="174003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"Est. wait" for each doctor and queue.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60772" y="3171379"/>
            <a:ext cx="4021931" cy="492919"/>
          </a:xfrm>
          <a:prstGeom prst="roundRect">
            <a:avLst>
              <a:gd name="adj" fmla="val 23188"/>
            </a:avLst>
          </a:prstGeom>
          <a:solidFill>
            <a:srgbClr val="FFE9E6"/>
          </a:solidFill>
          <a:ln w="7144">
            <a:solidFill>
              <a:srgbClr val="FF6B5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4356" y="326067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978694" y="3260675"/>
            <a:ext cx="256145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Optional routing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78694" y="3399979"/>
            <a:ext cx="243947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policy allows, suggest an appropriate alternative doctor/queue.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661297" y="1268127"/>
            <a:ext cx="4021931" cy="3471751"/>
          </a:xfrm>
          <a:prstGeom prst="roundRect">
            <a:avLst>
              <a:gd name="adj" fmla="val 4390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  <a:effectLst>
            <a:outerShdw blurRad="228600" dist="76200" dir="5400000" algn="bl" rotWithShape="0">
              <a:srgbClr val="0F2A3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64869" y="1271699"/>
            <a:ext cx="4014788" cy="310753"/>
          </a:xfrm>
          <a:prstGeom prst="rect">
            <a:avLst/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93456" y="1357424"/>
            <a:ext cx="34932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QUEUE — MEDICAL OPD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01038" y="1402073"/>
            <a:ext cx="50006" cy="50006"/>
          </a:xfrm>
          <a:prstGeom prst="roundRect">
            <a:avLst>
              <a:gd name="adj" fmla="val 66667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01038" y="1373498"/>
            <a:ext cx="25003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D7F5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664869" y="1569651"/>
            <a:ext cx="1406872" cy="30599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64869" y="1859273"/>
            <a:ext cx="1406872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4869" y="1582452"/>
            <a:ext cx="1406872" cy="453350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43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71741" y="1569651"/>
            <a:ext cx="621506" cy="30599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071741" y="1859273"/>
            <a:ext cx="621506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1741" y="1582452"/>
            <a:ext cx="621506" cy="453350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43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ROOM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93247" y="1569651"/>
            <a:ext cx="611125" cy="30599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693247" y="1859273"/>
            <a:ext cx="611125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93247" y="1582452"/>
            <a:ext cx="611125" cy="453350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43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04373" y="1569651"/>
            <a:ext cx="611237" cy="30599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7304373" y="1859273"/>
            <a:ext cx="611237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04373" y="1582452"/>
            <a:ext cx="611237" cy="453350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43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WAIT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915610" y="1569651"/>
            <a:ext cx="764046" cy="30599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7915610" y="1859273"/>
            <a:ext cx="764046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15610" y="1582452"/>
            <a:ext cx="764046" cy="453350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43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EST. WAIT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64881" y="1948569"/>
            <a:ext cx="200025" cy="200025"/>
          </a:xfrm>
          <a:prstGeom prst="roundRect">
            <a:avLst>
              <a:gd name="adj" fmla="val 66667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967817" y="1986074"/>
            <a:ext cx="533308" cy="143490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Dr. Ahmed</a:t>
            </a:r>
            <a:endParaRPr lang="en-US" sz="731" dirty="0"/>
          </a:p>
        </p:txBody>
      </p:sp>
      <p:sp>
        <p:nvSpPr>
          <p:cNvPr id="48" name="Text 46"/>
          <p:cNvSpPr/>
          <p:nvPr/>
        </p:nvSpPr>
        <p:spPr>
          <a:xfrm>
            <a:off x="4764881" y="1948569"/>
            <a:ext cx="200025" cy="200025"/>
          </a:xfrm>
          <a:prstGeom prst="ellipse">
            <a:avLst/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82026" y="196571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6071741" y="1887848"/>
            <a:ext cx="621506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Rm 14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93247" y="1887848"/>
            <a:ext cx="611125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04373" y="1887848"/>
            <a:ext cx="611237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915610" y="1887848"/>
            <a:ext cx="764046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 min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64881" y="2359335"/>
            <a:ext cx="147117" cy="200025"/>
          </a:xfrm>
          <a:prstGeom prst="roundRect">
            <a:avLst>
              <a:gd name="adj" fmla="val 66666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329796" y="2387017"/>
            <a:ext cx="641933" cy="144661"/>
          </a:xfrm>
          <a:prstGeom prst="roundRect">
            <a:avLst>
              <a:gd name="adj" fmla="val 65777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969148" y="2327188"/>
            <a:ext cx="207727" cy="308082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Dr. Sana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64881" y="2359335"/>
            <a:ext cx="147117" cy="200025"/>
          </a:xfrm>
          <a:prstGeom prst="roundRect">
            <a:avLst>
              <a:gd name="adj" fmla="val 621546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764881" y="2385789"/>
            <a:ext cx="147117" cy="147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5306936" y="2378337"/>
            <a:ext cx="687653" cy="162020"/>
          </a:xfrm>
          <a:prstGeom prst="roundRect">
            <a:avLst>
              <a:gd name="adj" fmla="val 5873025"/>
            </a:avLst>
          </a:prstGeom>
          <a:solidFill>
            <a:srgbClr val="FFFFFF"/>
          </a:solidFill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468715" y="2415592"/>
            <a:ext cx="528401" cy="13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00" b="1" kern="0" spc="43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SUGGESTED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386946" y="242005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071741" y="2298613"/>
            <a:ext cx="621506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Rm 15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693247" y="2298613"/>
            <a:ext cx="611125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304373" y="2298613"/>
            <a:ext cx="611237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915610" y="2298613"/>
            <a:ext cx="764046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min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764881" y="2770101"/>
            <a:ext cx="200025" cy="200025"/>
          </a:xfrm>
          <a:prstGeom prst="roundRect">
            <a:avLst>
              <a:gd name="adj" fmla="val 66667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943707" y="2807605"/>
            <a:ext cx="533308" cy="143490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Dr. Imran</a:t>
            </a:r>
            <a:endParaRPr lang="en-US" sz="731" dirty="0"/>
          </a:p>
        </p:txBody>
      </p:sp>
      <p:sp>
        <p:nvSpPr>
          <p:cNvPr id="68" name="Text 66"/>
          <p:cNvSpPr/>
          <p:nvPr/>
        </p:nvSpPr>
        <p:spPr>
          <a:xfrm>
            <a:off x="4764881" y="2770101"/>
            <a:ext cx="200025" cy="200025"/>
          </a:xfrm>
          <a:prstGeom prst="ellipse">
            <a:avLst/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782026" y="278724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6071741" y="2709379"/>
            <a:ext cx="621506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Rm 16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693247" y="2709379"/>
            <a:ext cx="611125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304373" y="2709379"/>
            <a:ext cx="611237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915610" y="2709379"/>
            <a:ext cx="764046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 min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764881" y="3159435"/>
            <a:ext cx="200025" cy="200025"/>
          </a:xfrm>
          <a:prstGeom prst="roundRect">
            <a:avLst>
              <a:gd name="adj" fmla="val 66667"/>
            </a:avLst>
          </a:prstGeom>
          <a:solidFill>
            <a:srgbClr val="ECF2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4948982" y="3196940"/>
            <a:ext cx="476324" cy="143490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Dr. Hina</a:t>
            </a:r>
            <a:endParaRPr lang="en-US" sz="731" dirty="0"/>
          </a:p>
        </p:txBody>
      </p:sp>
      <p:sp>
        <p:nvSpPr>
          <p:cNvPr id="76" name="Text 74"/>
          <p:cNvSpPr/>
          <p:nvPr/>
        </p:nvSpPr>
        <p:spPr>
          <a:xfrm>
            <a:off x="4764881" y="3159435"/>
            <a:ext cx="200025" cy="200025"/>
          </a:xfrm>
          <a:prstGeom prst="ellipse">
            <a:avLst/>
          </a:prstGeom>
          <a:solidFill>
            <a:srgbClr val="ECF2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4782026" y="317658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B8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125" dirty="0"/>
          </a:p>
        </p:txBody>
      </p:sp>
      <p:sp>
        <p:nvSpPr>
          <p:cNvPr id="78" name="Text 76"/>
          <p:cNvSpPr/>
          <p:nvPr/>
        </p:nvSpPr>
        <p:spPr>
          <a:xfrm>
            <a:off x="6154894" y="3179009"/>
            <a:ext cx="455200" cy="168021"/>
          </a:xfrm>
          <a:prstGeom prst="roundRect">
            <a:avLst>
              <a:gd name="adj" fmla="val 5663265"/>
            </a:avLst>
          </a:prstGeom>
          <a:solidFill>
            <a:srgbClr val="ECF2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283367" y="3216585"/>
            <a:ext cx="305410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34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6228904" y="322372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⏸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693247" y="3098713"/>
            <a:ext cx="611125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7304373" y="3098713"/>
            <a:ext cx="611237" cy="35269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915610" y="3055851"/>
            <a:ext cx="764046" cy="568591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Reopens ~3:20 PM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664869" y="3463044"/>
            <a:ext cx="4014676" cy="26789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Shape 83"/>
          <p:cNvSpPr/>
          <p:nvPr/>
        </p:nvSpPr>
        <p:spPr>
          <a:xfrm>
            <a:off x="4664869" y="3727363"/>
            <a:ext cx="4014676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07756" y="3549662"/>
            <a:ext cx="2738847" cy="102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00" b="1" kern="0" spc="43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SUGGESTED ROUTING IS OPTIONAL AND RESPECTS HOSPITAL POLICY.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4764881" y="354341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984" dirty="0"/>
          </a:p>
        </p:txBody>
      </p:sp>
      <p:sp>
        <p:nvSpPr>
          <p:cNvPr id="88" name="Text 86"/>
          <p:cNvSpPr/>
          <p:nvPr/>
        </p:nvSpPr>
        <p:spPr>
          <a:xfrm>
            <a:off x="7660891" y="3534482"/>
            <a:ext cx="91864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43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ACTIVE · 1 ON BREAK</a:t>
            </a:r>
            <a:endParaRPr lang="en-US" sz="619" dirty="0"/>
          </a:p>
        </p:txBody>
      </p:sp>
      <p:sp>
        <p:nvSpPr>
          <p:cNvPr id="89" name="Text 87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91"/>
            <a:ext cx="633226" cy="212027"/>
          </a:xfrm>
          <a:prstGeom prst="roundRect">
            <a:avLst>
              <a:gd name="adj" fmla="val 4487860"/>
            </a:avLst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1927" y="400050"/>
            <a:ext cx="6637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7576" y="388691"/>
            <a:ext cx="647291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2170" y="400050"/>
            <a:ext cx="7381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75084"/>
            <a:ext cx="8636000" cy="36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73"/>
              </a:lnSpc>
              <a:buNone/>
            </a:pPr>
            <a:r>
              <a:rPr lang="en-US" sz="2475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Hospital Admin Dashboard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457200" y="1100249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264555"/>
            <a:ext cx="3626123" cy="502072"/>
          </a:xfrm>
          <a:prstGeom prst="roundRect">
            <a:avLst>
              <a:gd name="adj" fmla="val 22766"/>
            </a:avLst>
          </a:prstGeom>
          <a:solidFill>
            <a:srgbClr val="F1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268127"/>
            <a:ext cx="3626123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79751" y="1264555"/>
            <a:ext cx="0" cy="502072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63055"/>
            <a:ext cx="3626123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488" y="1264555"/>
            <a:ext cx="0" cy="502072"/>
          </a:xfrm>
          <a:prstGeom prst="line">
            <a:avLst/>
          </a:prstGeom>
          <a:noFill/>
          <a:ln w="28575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075" y="1371712"/>
            <a:ext cx="3361804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dedicated staff dashboard shows </a:t>
            </a:r>
            <a:r>
              <a:rPr lang="en-US" sz="800" b="1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HOSPITAL STATUS</a:t>
            </a: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across the entire patient flow — not just one counter's queue.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1855924"/>
            <a:ext cx="1770199" cy="378619"/>
          </a:xfrm>
          <a:prstGeom prst="roundRect">
            <a:avLst>
              <a:gd name="adj" fmla="val 25157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0069" y="1930933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1143" y="195200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850106" y="1991655"/>
            <a:ext cx="129156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75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patients + load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309552" y="1855924"/>
            <a:ext cx="1770199" cy="378619"/>
          </a:xfrm>
          <a:prstGeom prst="roundRect">
            <a:avLst>
              <a:gd name="adj" fmla="val 25157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98849" y="1930933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419923" y="195200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2698886" y="1991655"/>
            <a:ext cx="129156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OPD patients + load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0772" y="2313124"/>
            <a:ext cx="1770199" cy="378619"/>
          </a:xfrm>
          <a:prstGeom prst="roundRect">
            <a:avLst>
              <a:gd name="adj" fmla="val 25157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0069" y="2388133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1143" y="240920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850106" y="2448855"/>
            <a:ext cx="129871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75" b="1" dirty="0">
                <a:solidFill>
                  <a:srgbClr val="0F2A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Doctor availability (e.g. 8/10)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309552" y="2313124"/>
            <a:ext cx="1770199" cy="378619"/>
          </a:xfrm>
          <a:prstGeom prst="roundRect">
            <a:avLst>
              <a:gd name="adj" fmla="val 25157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398849" y="2388133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419923" y="240920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2698886" y="2448855"/>
            <a:ext cx="129156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Average waiting time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0772" y="2770324"/>
            <a:ext cx="1770199" cy="378619"/>
          </a:xfrm>
          <a:prstGeom prst="roundRect">
            <a:avLst>
              <a:gd name="adj" fmla="val 25157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0069" y="2845333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1143" y="286640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850106" y="2852477"/>
            <a:ext cx="1369062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Bed / room availability </a:t>
            </a:r>
            <a:r>
              <a:rPr lang="en-US" sz="800" b="1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(if integrated)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309552" y="2770324"/>
            <a:ext cx="1770199" cy="378619"/>
          </a:xfrm>
          <a:prstGeom prst="roundRect">
            <a:avLst>
              <a:gd name="adj" fmla="val 25157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398849" y="2845333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419923" y="286640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2698886" y="2906055"/>
            <a:ext cx="133305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75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Delayed / high-load departments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4258345" y="1268127"/>
            <a:ext cx="4424883" cy="3471751"/>
          </a:xfrm>
          <a:prstGeom prst="roundRect">
            <a:avLst>
              <a:gd name="adj" fmla="val 4390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  <a:effectLst>
            <a:outerShdw blurRad="228600" dist="76200" dir="5400000" algn="bl" rotWithShape="0">
              <a:srgbClr val="0F2A3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261917" y="1271699"/>
            <a:ext cx="4417740" cy="296466"/>
          </a:xfrm>
          <a:prstGeom prst="rect">
            <a:avLst/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390504" y="1350280"/>
            <a:ext cx="389624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HOSPITAL STATUS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01038" y="1394929"/>
            <a:ext cx="50006" cy="50006"/>
          </a:xfrm>
          <a:prstGeom prst="roundRect">
            <a:avLst>
              <a:gd name="adj" fmla="val 66667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301038" y="1366354"/>
            <a:ext cx="25003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D7F5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351213" y="1657462"/>
            <a:ext cx="1000795" cy="445368"/>
          </a:xfrm>
          <a:prstGeom prst="roundRect">
            <a:avLst>
              <a:gd name="adj" fmla="val 21387"/>
            </a:avLst>
          </a:prstGeom>
          <a:solidFill>
            <a:srgbClr val="FFE9E6"/>
          </a:solidFill>
          <a:ln w="7144">
            <a:solidFill>
              <a:srgbClr val="FF6B5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440510" y="1732471"/>
            <a:ext cx="822201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43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 LOAD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28058" y="1855772"/>
            <a:ext cx="336216" cy="132017"/>
          </a:xfrm>
          <a:prstGeom prst="roundRect">
            <a:avLst>
              <a:gd name="adj" fmla="val 72077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429725" y="1862844"/>
            <a:ext cx="33288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45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30589" y="1657462"/>
            <a:ext cx="1000906" cy="445368"/>
          </a:xfrm>
          <a:prstGeom prst="roundRect">
            <a:avLst>
              <a:gd name="adj" fmla="val 21387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87660" y="1732471"/>
            <a:ext cx="886765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43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OPD PATIENTS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19886" y="1862844"/>
            <a:ext cx="822313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9"/>
              </a:lnSpc>
              <a:buNone/>
            </a:pPr>
            <a:r>
              <a:rPr lang="en-US" sz="1238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142</a:t>
            </a:r>
            <a:endParaRPr lang="en-US" sz="1238" dirty="0"/>
          </a:p>
        </p:txBody>
      </p:sp>
      <p:sp>
        <p:nvSpPr>
          <p:cNvPr id="50" name="Text 48"/>
          <p:cNvSpPr/>
          <p:nvPr/>
        </p:nvSpPr>
        <p:spPr>
          <a:xfrm>
            <a:off x="6510077" y="1657462"/>
            <a:ext cx="1000795" cy="445368"/>
          </a:xfrm>
          <a:prstGeom prst="roundRect">
            <a:avLst>
              <a:gd name="adj" fmla="val 21387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599374" y="1732471"/>
            <a:ext cx="822201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00" b="1" kern="0" spc="43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DOCTORS ON DUTY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599374" y="1862844"/>
            <a:ext cx="822201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9"/>
              </a:lnSpc>
              <a:buNone/>
            </a:pPr>
            <a:r>
              <a:rPr lang="en-US" sz="1238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/ 10</a:t>
            </a:r>
            <a:endParaRPr lang="en-US" sz="1238" dirty="0"/>
          </a:p>
        </p:txBody>
      </p:sp>
      <p:sp>
        <p:nvSpPr>
          <p:cNvPr id="53" name="Text 51"/>
          <p:cNvSpPr/>
          <p:nvPr/>
        </p:nvSpPr>
        <p:spPr>
          <a:xfrm>
            <a:off x="7589453" y="1657462"/>
            <a:ext cx="1000906" cy="445368"/>
          </a:xfrm>
          <a:prstGeom prst="roundRect">
            <a:avLst>
              <a:gd name="adj" fmla="val 21387"/>
            </a:avLst>
          </a:prstGeom>
          <a:solidFill>
            <a:srgbClr val="FFFFFF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678750" y="1732471"/>
            <a:ext cx="822313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43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AVG WAIT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678750" y="1862844"/>
            <a:ext cx="822313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9"/>
              </a:lnSpc>
              <a:buNone/>
            </a:pPr>
            <a:r>
              <a:rPr lang="en-US" sz="1238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 min</a:t>
            </a:r>
            <a:endParaRPr lang="en-US" sz="1238" dirty="0"/>
          </a:p>
        </p:txBody>
      </p:sp>
      <p:sp>
        <p:nvSpPr>
          <p:cNvPr id="56" name="Text 54"/>
          <p:cNvSpPr/>
          <p:nvPr/>
        </p:nvSpPr>
        <p:spPr>
          <a:xfrm>
            <a:off x="4351213" y="2195699"/>
            <a:ext cx="4239146" cy="1564481"/>
          </a:xfrm>
          <a:prstGeom prst="roundRect">
            <a:avLst>
              <a:gd name="adj" fmla="val 7306"/>
            </a:avLst>
          </a:prstGeom>
          <a:noFill/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0" descr="/tmp/h2p-fit-1790056704145-v462v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785" y="2199270"/>
            <a:ext cx="4232002" cy="1571625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4376217" y="3900934"/>
            <a:ext cx="3611724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647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Department load · Queue status · Doctor availability — at a glance.</a:t>
            </a:r>
            <a:endParaRPr lang="en-US" sz="647" dirty="0"/>
          </a:p>
        </p:txBody>
      </p:sp>
      <p:sp>
        <p:nvSpPr>
          <p:cNvPr id="59" name="Text 56"/>
          <p:cNvSpPr/>
          <p:nvPr/>
        </p:nvSpPr>
        <p:spPr>
          <a:xfrm>
            <a:off x="7979703" y="3852406"/>
            <a:ext cx="608179" cy="212027"/>
          </a:xfrm>
          <a:prstGeom prst="roundRect">
            <a:avLst>
              <a:gd name="adj" fmla="val 4487860"/>
            </a:avLst>
          </a:prstGeom>
          <a:solidFill>
            <a:srgbClr val="F1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8223684" y="3906627"/>
            <a:ext cx="341672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</a:t>
            </a:r>
            <a:endParaRPr lang="en-US" sz="619" dirty="0"/>
          </a:p>
        </p:txBody>
      </p:sp>
      <p:sp>
        <p:nvSpPr>
          <p:cNvPr id="61" name="Text 58"/>
          <p:cNvSpPr/>
          <p:nvPr/>
        </p:nvSpPr>
        <p:spPr>
          <a:xfrm>
            <a:off x="8087953" y="391198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62" name="Text 59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91"/>
            <a:ext cx="633226" cy="212027"/>
          </a:xfrm>
          <a:prstGeom prst="roundRect">
            <a:avLst>
              <a:gd name="adj" fmla="val 4487860"/>
            </a:avLst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1927" y="400050"/>
            <a:ext cx="6637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7576" y="388691"/>
            <a:ext cx="699083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7685" y="400050"/>
            <a:ext cx="778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75084"/>
            <a:ext cx="8636000" cy="36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73"/>
              </a:lnSpc>
              <a:buNone/>
            </a:pPr>
            <a:r>
              <a:rPr lang="en-US" sz="2475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Access Control &amp; Audit Logging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457200" y="1100249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264555"/>
            <a:ext cx="4029075" cy="502072"/>
          </a:xfrm>
          <a:prstGeom prst="roundRect">
            <a:avLst>
              <a:gd name="adj" fmla="val 22766"/>
            </a:avLst>
          </a:prstGeom>
          <a:solidFill>
            <a:srgbClr val="F1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268127"/>
            <a:ext cx="4029075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2703" y="1264555"/>
            <a:ext cx="0" cy="502072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63055"/>
            <a:ext cx="4029075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488" y="1264555"/>
            <a:ext cx="0" cy="502072"/>
          </a:xfrm>
          <a:prstGeom prst="line">
            <a:avLst/>
          </a:prstGeom>
          <a:noFill/>
          <a:ln w="28575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075" y="1371712"/>
            <a:ext cx="3764756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medical history is sensitive. The system enforces role-based access and logs every interaction — making this a proper </a:t>
            </a:r>
            <a:r>
              <a:rPr lang="en-US" sz="800" b="1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hospital information system</a:t>
            </a: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not just an AI app.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1855924"/>
            <a:ext cx="4021931" cy="492919"/>
          </a:xfrm>
          <a:prstGeom prst="roundRect">
            <a:avLst>
              <a:gd name="adj" fmla="val 23188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4356" y="1945221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78694" y="1945221"/>
            <a:ext cx="150691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Role-based access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78694" y="2084524"/>
            <a:ext cx="138862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role sees only what it needs.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60772" y="2441711"/>
            <a:ext cx="4021931" cy="492919"/>
          </a:xfrm>
          <a:prstGeom prst="roundRect">
            <a:avLst>
              <a:gd name="adj" fmla="val 23188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4356" y="2531008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978694" y="2531008"/>
            <a:ext cx="212126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log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78694" y="2670311"/>
            <a:ext cx="178981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 accessed, when, and what information.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60772" y="3027499"/>
            <a:ext cx="4021931" cy="492919"/>
          </a:xfrm>
          <a:prstGeom prst="roundRect">
            <a:avLst>
              <a:gd name="adj" fmla="val 23188"/>
            </a:avLst>
          </a:prstGeom>
          <a:solidFill>
            <a:srgbClr val="FFE9E6"/>
          </a:solidFill>
          <a:ln w="7144">
            <a:solidFill>
              <a:srgbClr val="FF6B5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4356" y="3116796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978694" y="3116796"/>
            <a:ext cx="1659114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Privacy by design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78694" y="3256099"/>
            <a:ext cx="170651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Strengthens governance and patient trust.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661297" y="1268127"/>
            <a:ext cx="4021931" cy="2384227"/>
          </a:xfrm>
          <a:prstGeom prst="roundRect">
            <a:avLst>
              <a:gd name="adj" fmla="val 6392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  <a:effectLst>
            <a:outerShdw blurRad="228600" dist="76200" dir="5400000" algn="bl" rotWithShape="0">
              <a:srgbClr val="0F2A3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64869" y="1271699"/>
            <a:ext cx="4014788" cy="296466"/>
          </a:xfrm>
          <a:prstGeom prst="rect">
            <a:avLst/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93456" y="1350280"/>
            <a:ext cx="314648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ACCESS MATRIX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36084" y="1373498"/>
            <a:ext cx="5688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FFD9D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ROLE-BASED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7954231" y="1373498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FFD9D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14" dirty="0"/>
          </a:p>
        </p:txBody>
      </p:sp>
      <p:sp>
        <p:nvSpPr>
          <p:cNvPr id="31" name="Text 29"/>
          <p:cNvSpPr/>
          <p:nvPr/>
        </p:nvSpPr>
        <p:spPr>
          <a:xfrm>
            <a:off x="4664869" y="1555363"/>
            <a:ext cx="1766404" cy="29170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64869" y="1830698"/>
            <a:ext cx="1766404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4869" y="1568165"/>
            <a:ext cx="1766404" cy="430249"/>
          </a:xfrm>
          <a:prstGeom prst="rect">
            <a:avLst/>
          </a:prstGeom>
          <a:noFill/>
          <a:ln/>
        </p:spPr>
        <p:txBody>
          <a:bodyPr wrap="none" lIns="114300" tIns="78581" rIns="114300" bIns="78581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43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31273" y="1568165"/>
            <a:ext cx="2248384" cy="26610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431273" y="1830698"/>
            <a:ext cx="2248384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1273" y="1568165"/>
            <a:ext cx="2248384" cy="430249"/>
          </a:xfrm>
          <a:prstGeom prst="rect">
            <a:avLst/>
          </a:prstGeom>
          <a:noFill/>
          <a:ln/>
        </p:spPr>
        <p:txBody>
          <a:bodyPr wrap="none" lIns="114300" tIns="78581" rIns="114300" bIns="78581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43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 SEE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4869" y="2195029"/>
            <a:ext cx="1766404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6407" y="1900849"/>
            <a:ext cx="614568" cy="224028"/>
          </a:xfrm>
          <a:prstGeom prst="roundRect">
            <a:avLst>
              <a:gd name="adj" fmla="val 4247449"/>
            </a:avLst>
          </a:prstGeom>
          <a:solidFill>
            <a:srgbClr val="E0F2F4"/>
          </a:solidFill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007769" y="1955713"/>
            <a:ext cx="130920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57750" y="196285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984" dirty="0"/>
          </a:p>
        </p:txBody>
      </p:sp>
      <p:sp>
        <p:nvSpPr>
          <p:cNvPr id="41" name="Shape 39"/>
          <p:cNvSpPr/>
          <p:nvPr/>
        </p:nvSpPr>
        <p:spPr>
          <a:xfrm>
            <a:off x="6431273" y="2195029"/>
            <a:ext cx="2248384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31273" y="1834269"/>
            <a:ext cx="2248384" cy="447690"/>
          </a:xfrm>
          <a:prstGeom prst="rect">
            <a:avLst/>
          </a:prstGeom>
          <a:noFill/>
          <a:ln/>
        </p:spPr>
        <p:txBody>
          <a:bodyPr wrap="none" lIns="114300" tIns="78581" rIns="114300" bIns="78581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Own information only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64869" y="2559360"/>
            <a:ext cx="1766404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8046" y="2265180"/>
            <a:ext cx="570326" cy="224028"/>
          </a:xfrm>
          <a:prstGeom prst="roundRect">
            <a:avLst>
              <a:gd name="adj" fmla="val 4247449"/>
            </a:avLst>
          </a:prstGeom>
          <a:solidFill>
            <a:srgbClr val="E0F2F4"/>
          </a:solidFill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007769" y="2320044"/>
            <a:ext cx="130920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Nurse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57750" y="232718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84" dirty="0"/>
          </a:p>
        </p:txBody>
      </p:sp>
      <p:sp>
        <p:nvSpPr>
          <p:cNvPr id="47" name="Shape 45"/>
          <p:cNvSpPr/>
          <p:nvPr/>
        </p:nvSpPr>
        <p:spPr>
          <a:xfrm>
            <a:off x="6431273" y="2559360"/>
            <a:ext cx="2248384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1273" y="2198601"/>
            <a:ext cx="2248384" cy="447690"/>
          </a:xfrm>
          <a:prstGeom prst="rect">
            <a:avLst/>
          </a:prstGeom>
          <a:noFill/>
          <a:ln/>
        </p:spPr>
        <p:txBody>
          <a:bodyPr wrap="none" lIns="114300" tIns="78581" rIns="114300" bIns="78581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Necessary clinical information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64869" y="2923691"/>
            <a:ext cx="1766404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7090" y="2629512"/>
            <a:ext cx="596124" cy="224028"/>
          </a:xfrm>
          <a:prstGeom prst="roundRect">
            <a:avLst>
              <a:gd name="adj" fmla="val 4247449"/>
            </a:avLst>
          </a:prstGeom>
          <a:solidFill>
            <a:srgbClr val="E0F2F4"/>
          </a:solidFill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007769" y="2684376"/>
            <a:ext cx="130920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57750" y="269151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84" dirty="0"/>
          </a:p>
        </p:txBody>
      </p:sp>
      <p:sp>
        <p:nvSpPr>
          <p:cNvPr id="53" name="Shape 51"/>
          <p:cNvSpPr/>
          <p:nvPr/>
        </p:nvSpPr>
        <p:spPr>
          <a:xfrm>
            <a:off x="6431273" y="2923691"/>
            <a:ext cx="2248384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31273" y="2562932"/>
            <a:ext cx="2248384" cy="447690"/>
          </a:xfrm>
          <a:prstGeom prst="rect">
            <a:avLst/>
          </a:prstGeom>
          <a:noFill/>
          <a:ln/>
        </p:spPr>
        <p:txBody>
          <a:bodyPr wrap="none" lIns="114300" tIns="78581" rIns="114300" bIns="78581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Relevant medical history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64869" y="3288023"/>
            <a:ext cx="1766404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7912" y="2993843"/>
            <a:ext cx="573942" cy="224028"/>
          </a:xfrm>
          <a:prstGeom prst="roundRect">
            <a:avLst>
              <a:gd name="adj" fmla="val 4247449"/>
            </a:avLst>
          </a:prstGeom>
          <a:solidFill>
            <a:srgbClr val="E0F2F4"/>
          </a:solidFill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007769" y="3048707"/>
            <a:ext cx="130920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Billing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57750" y="305585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59" name="Shape 57"/>
          <p:cNvSpPr/>
          <p:nvPr/>
        </p:nvSpPr>
        <p:spPr>
          <a:xfrm>
            <a:off x="6431273" y="3288023"/>
            <a:ext cx="2248384" cy="0"/>
          </a:xfrm>
          <a:prstGeom prst="line">
            <a:avLst/>
          </a:prstGeom>
          <a:noFill/>
          <a:ln w="7144">
            <a:solidFill>
              <a:srgbClr val="ECF2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31273" y="2927263"/>
            <a:ext cx="2248384" cy="447690"/>
          </a:xfrm>
          <a:prstGeom prst="rect">
            <a:avLst/>
          </a:prstGeom>
          <a:noFill/>
          <a:ln/>
        </p:spPr>
        <p:txBody>
          <a:bodyPr wrap="none" lIns="114300" tIns="78581" rIns="114300" bIns="78581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Billing-related information only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757635" y="3358174"/>
            <a:ext cx="581416" cy="224028"/>
          </a:xfrm>
          <a:prstGeom prst="roundRect">
            <a:avLst>
              <a:gd name="adj" fmla="val 4247449"/>
            </a:avLst>
          </a:prstGeom>
          <a:solidFill>
            <a:srgbClr val="E0F2F4"/>
          </a:solidFill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007769" y="3413038"/>
            <a:ext cx="130920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857750" y="342018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64" name="Text 62"/>
          <p:cNvSpPr/>
          <p:nvPr/>
        </p:nvSpPr>
        <p:spPr>
          <a:xfrm>
            <a:off x="6431273" y="3291594"/>
            <a:ext cx="2248384" cy="357188"/>
          </a:xfrm>
          <a:prstGeom prst="rect">
            <a:avLst/>
          </a:prstGeom>
          <a:noFill/>
          <a:ln/>
        </p:spPr>
        <p:txBody>
          <a:bodyPr wrap="none" lIns="114300" tIns="78581" rIns="114300" bIns="78581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information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657725" y="3741651"/>
            <a:ext cx="4029075" cy="723528"/>
          </a:xfrm>
          <a:prstGeom prst="roundRect">
            <a:avLst>
              <a:gd name="adj" fmla="val 15798"/>
            </a:avLst>
          </a:prstGeom>
          <a:solidFill>
            <a:srgbClr val="0B1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907756" y="3834519"/>
            <a:ext cx="2918892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0" dirty="0">
                <a:solidFill>
                  <a:srgbClr val="6FE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LOG — LIVE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772025" y="3839877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6FE3C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14" dirty="0"/>
          </a:p>
        </p:txBody>
      </p:sp>
      <p:sp>
        <p:nvSpPr>
          <p:cNvPr id="68" name="Text 66"/>
          <p:cNvSpPr/>
          <p:nvPr/>
        </p:nvSpPr>
        <p:spPr>
          <a:xfrm>
            <a:off x="7840935" y="3832733"/>
            <a:ext cx="7315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8FA6A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events · 2026-09-22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772025" y="4002398"/>
            <a:ext cx="934645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19" dirty="0">
                <a:solidFill>
                  <a:srgbClr val="6FE3C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2026-09-22 09:14:02</a:t>
            </a:r>
            <a:endParaRPr lang="en-US" sz="619" dirty="0"/>
          </a:p>
        </p:txBody>
      </p:sp>
      <p:sp>
        <p:nvSpPr>
          <p:cNvPr id="70" name="Text 68"/>
          <p:cNvSpPr/>
          <p:nvPr/>
        </p:nvSpPr>
        <p:spPr>
          <a:xfrm>
            <a:off x="5589984" y="4002398"/>
            <a:ext cx="505670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19" dirty="0">
                <a:solidFill>
                  <a:srgbClr val="FF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Dr. Ahmed</a:t>
            </a:r>
            <a:endParaRPr lang="en-US" sz="619" dirty="0"/>
          </a:p>
        </p:txBody>
      </p:sp>
      <p:sp>
        <p:nvSpPr>
          <p:cNvPr id="71" name="Text 69"/>
          <p:cNvSpPr/>
          <p:nvPr/>
        </p:nvSpPr>
        <p:spPr>
          <a:xfrm>
            <a:off x="6009584" y="4002398"/>
            <a:ext cx="413243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19" dirty="0">
                <a:solidFill>
                  <a:srgbClr val="8FA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accessed</a:t>
            </a:r>
            <a:endParaRPr lang="en-US" sz="619" dirty="0"/>
          </a:p>
        </p:txBody>
      </p:sp>
      <p:sp>
        <p:nvSpPr>
          <p:cNvPr id="72" name="Text 70"/>
          <p:cNvSpPr/>
          <p:nvPr/>
        </p:nvSpPr>
        <p:spPr>
          <a:xfrm>
            <a:off x="6400800" y="4002398"/>
            <a:ext cx="2171700" cy="17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dirty="0">
                <a:solidFill>
                  <a:srgbClr val="E5EE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record A-127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772025" y="4128083"/>
            <a:ext cx="934645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19" dirty="0">
                <a:solidFill>
                  <a:srgbClr val="6FE3C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2026-09-22 09:14:05</a:t>
            </a:r>
            <a:endParaRPr lang="en-US" sz="619" dirty="0"/>
          </a:p>
        </p:txBody>
      </p:sp>
      <p:sp>
        <p:nvSpPr>
          <p:cNvPr id="74" name="Text 72"/>
          <p:cNvSpPr/>
          <p:nvPr/>
        </p:nvSpPr>
        <p:spPr>
          <a:xfrm>
            <a:off x="5582566" y="4128083"/>
            <a:ext cx="505969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19" dirty="0">
                <a:solidFill>
                  <a:srgbClr val="FF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Nurse Sana</a:t>
            </a:r>
            <a:endParaRPr lang="en-US" sz="619" dirty="0"/>
          </a:p>
        </p:txBody>
      </p:sp>
      <p:sp>
        <p:nvSpPr>
          <p:cNvPr id="75" name="Text 73"/>
          <p:cNvSpPr/>
          <p:nvPr/>
        </p:nvSpPr>
        <p:spPr>
          <a:xfrm>
            <a:off x="6046800" y="4128083"/>
            <a:ext cx="316808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19" dirty="0">
                <a:solidFill>
                  <a:srgbClr val="8FA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viewed</a:t>
            </a:r>
            <a:endParaRPr lang="en-US" sz="619" dirty="0"/>
          </a:p>
        </p:txBody>
      </p:sp>
      <p:sp>
        <p:nvSpPr>
          <p:cNvPr id="76" name="Text 74"/>
          <p:cNvSpPr/>
          <p:nvPr/>
        </p:nvSpPr>
        <p:spPr>
          <a:xfrm>
            <a:off x="6361509" y="4128083"/>
            <a:ext cx="2210991" cy="17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dirty="0">
                <a:solidFill>
                  <a:srgbClr val="E5EE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vitals A-127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772025" y="4253768"/>
            <a:ext cx="93464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19" dirty="0">
                <a:solidFill>
                  <a:srgbClr val="6FE3C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2026-09-22 09:15:11</a:t>
            </a:r>
            <a:endParaRPr lang="en-US" sz="619" dirty="0"/>
          </a:p>
        </p:txBody>
      </p:sp>
      <p:sp>
        <p:nvSpPr>
          <p:cNvPr id="78" name="Text 76"/>
          <p:cNvSpPr/>
          <p:nvPr/>
        </p:nvSpPr>
        <p:spPr>
          <a:xfrm>
            <a:off x="5589984" y="4253768"/>
            <a:ext cx="39329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19" dirty="0">
                <a:solidFill>
                  <a:srgbClr val="FF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</a:t>
            </a:r>
            <a:endParaRPr lang="en-US" sz="619" dirty="0"/>
          </a:p>
        </p:txBody>
      </p:sp>
      <p:sp>
        <p:nvSpPr>
          <p:cNvPr id="79" name="Text 77"/>
          <p:cNvSpPr/>
          <p:nvPr/>
        </p:nvSpPr>
        <p:spPr>
          <a:xfrm>
            <a:off x="5928928" y="4253768"/>
            <a:ext cx="316808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19" dirty="0">
                <a:solidFill>
                  <a:srgbClr val="8FA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viewed</a:t>
            </a:r>
            <a:endParaRPr lang="en-US" sz="619" dirty="0"/>
          </a:p>
        </p:txBody>
      </p:sp>
      <p:sp>
        <p:nvSpPr>
          <p:cNvPr id="80" name="Text 78"/>
          <p:cNvSpPr/>
          <p:nvPr/>
        </p:nvSpPr>
        <p:spPr>
          <a:xfrm>
            <a:off x="6243638" y="4253768"/>
            <a:ext cx="2328863" cy="125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dirty="0">
                <a:solidFill>
                  <a:srgbClr val="E5EE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invoice A-127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91"/>
            <a:ext cx="519261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8656" y="442913"/>
            <a:ext cx="340668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2925" y="44827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914" dirty="0"/>
          </a:p>
        </p:txBody>
      </p:sp>
      <p:sp>
        <p:nvSpPr>
          <p:cNvPr id="5" name="Text 3"/>
          <p:cNvSpPr/>
          <p:nvPr/>
        </p:nvSpPr>
        <p:spPr>
          <a:xfrm>
            <a:off x="1062186" y="435769"/>
            <a:ext cx="76246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 · SYNCHRONIZED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60797"/>
            <a:ext cx="8636000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 visit moves through the system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457200" y="1077925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0772" y="1202941"/>
            <a:ext cx="3879056" cy="3536938"/>
          </a:xfrm>
          <a:prstGeom prst="roundRect">
            <a:avLst>
              <a:gd name="adj" fmla="val 3770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4344" y="1206512"/>
            <a:ext cx="3871913" cy="264319"/>
          </a:xfrm>
          <a:prstGeom prst="rect">
            <a:avLst/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4344" y="1467259"/>
            <a:ext cx="3871913" cy="0"/>
          </a:xfrm>
          <a:prstGeom prst="line">
            <a:avLst/>
          </a:prstGeom>
          <a:noFill/>
          <a:ln w="7144">
            <a:solidFill>
              <a:srgbClr val="4DBA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8644" y="12708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778669" y="1270806"/>
            <a:ext cx="30594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54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FLOW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26842" y="1278843"/>
            <a:ext cx="442082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600" kern="0" spc="47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STEPS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78644" y="1556139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8644" y="1563700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00838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2963" y="1556556"/>
            <a:ext cx="34932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App / Website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2963" y="1675321"/>
            <a:ext cx="3493294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opens app.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8644" y="1823806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8644" y="1831367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00838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2963" y="1824224"/>
            <a:ext cx="360302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Appointment + Digital Registration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2963" y="1942988"/>
            <a:ext cx="3603022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Book slot, fill basic info.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8644" y="2091473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8644" y="2099035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00838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2963" y="2091891"/>
            <a:ext cx="360302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Symptoms + History + Reports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2963" y="2210656"/>
            <a:ext cx="3603022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Upload / enter pre-assessment data.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8644" y="2359141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78644" y="2366702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00838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2963" y="2359558"/>
            <a:ext cx="360302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Patient Information Organizer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42963" y="2478323"/>
            <a:ext cx="3603022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structures the summary.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8644" y="2626808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8644" y="2634369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00838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2963" y="2627226"/>
            <a:ext cx="34932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Hospital Arrival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2963" y="2745991"/>
            <a:ext cx="3378994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Normal: Smart Queue → Vitals → Doctor. Emergency: Quick ID → Triage → ER Team → Treatment.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8644" y="3000516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8644" y="3008077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00838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2963" y="3000933"/>
            <a:ext cx="34932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Dashboard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2963" y="3119698"/>
            <a:ext cx="3603022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History + Vitals + AI Summary ready.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8644" y="3268183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8644" y="3275744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00838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42963" y="3268600"/>
            <a:ext cx="34932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Consultation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2963" y="3387365"/>
            <a:ext cx="3493294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sees patient.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78644" y="3535850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8644" y="3543412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00838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42963" y="3536268"/>
            <a:ext cx="360302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Prescription / Tests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42963" y="3655033"/>
            <a:ext cx="3493294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Issued in-app.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78644" y="3803518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8644" y="3811079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00838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42963" y="3803935"/>
            <a:ext cx="360302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Payment + Digital Discharge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42963" y="3922700"/>
            <a:ext cx="3493294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Cashless where possible.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78644" y="4071185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78644" y="4078746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00838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42963" y="4071603"/>
            <a:ext cx="34932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Follow-up + Reminders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42963" y="4190367"/>
            <a:ext cx="3493294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check-ins.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64856" y="1242231"/>
            <a:ext cx="14288" cy="1209303"/>
          </a:xfrm>
          <a:prstGeom prst="roundRect">
            <a:avLst>
              <a:gd name="adj" fmla="val 133329"/>
            </a:avLst>
          </a:prstGeom>
          <a:solidFill>
            <a:srgbClr val="D9E5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 rot="16200000">
            <a:off x="4471988" y="2512256"/>
            <a:ext cx="200025" cy="918307"/>
          </a:xfrm>
          <a:prstGeom prst="roundRect">
            <a:avLst>
              <a:gd name="adj" fmla="val 4757143"/>
            </a:avLst>
          </a:prstGeom>
          <a:solidFill>
            <a:srgbClr val="E0F2F4"/>
          </a:solidFill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 rot="16200000">
            <a:off x="4109275" y="2867825"/>
            <a:ext cx="925450" cy="318211"/>
          </a:xfrm>
          <a:prstGeom prst="rect">
            <a:avLst/>
          </a:prstGeom>
          <a:noFill/>
          <a:ln/>
        </p:spPr>
        <p:txBody>
          <a:bodyPr wrap="none" lIns="42863" tIns="85725" rIns="42863" bIns="85725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101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PARALLEL · SYNC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64856" y="3491285"/>
            <a:ext cx="14288" cy="1209303"/>
          </a:xfrm>
          <a:prstGeom prst="roundRect">
            <a:avLst>
              <a:gd name="adj" fmla="val 133329"/>
            </a:avLst>
          </a:prstGeom>
          <a:solidFill>
            <a:srgbClr val="D9E5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804172" y="1202941"/>
            <a:ext cx="3879056" cy="3536938"/>
          </a:xfrm>
          <a:prstGeom prst="roundRect">
            <a:avLst>
              <a:gd name="adj" fmla="val 3770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807744" y="1206512"/>
            <a:ext cx="3871913" cy="264319"/>
          </a:xfrm>
          <a:prstGeom prst="rect">
            <a:avLst/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4807744" y="1467259"/>
            <a:ext cx="3871913" cy="0"/>
          </a:xfrm>
          <a:prstGeom prst="line">
            <a:avLst/>
          </a:prstGeom>
          <a:noFill/>
          <a:ln w="7144">
            <a:solidFill>
              <a:srgbClr val="FF6B5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22044" y="12708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266" dirty="0"/>
          </a:p>
        </p:txBody>
      </p:sp>
      <p:sp>
        <p:nvSpPr>
          <p:cNvPr id="62" name="Text 60"/>
          <p:cNvSpPr/>
          <p:nvPr/>
        </p:nvSpPr>
        <p:spPr>
          <a:xfrm>
            <a:off x="5122069" y="1270806"/>
            <a:ext cx="31029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54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FLOW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219882" y="1278843"/>
            <a:ext cx="386334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600" kern="0" spc="47" dirty="0">
                <a:solidFill>
                  <a:srgbClr val="D845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STEPS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922044" y="1556139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922044" y="1563700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D845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86363" y="1556556"/>
            <a:ext cx="34932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Biometric Check-in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86363" y="1675321"/>
            <a:ext cx="3603022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 verified on arrival.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922044" y="1880956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922044" y="1888517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D845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86363" y="1881374"/>
            <a:ext cx="34932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Availability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186363" y="2000138"/>
            <a:ext cx="3493294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 set to Available.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922044" y="2205773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922044" y="2213335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D845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86363" y="2206191"/>
            <a:ext cx="34932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Patient Queue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186363" y="2324956"/>
            <a:ext cx="3603022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Sees assigned patients in order.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922044" y="2530591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4922044" y="2538152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D845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86363" y="2531008"/>
            <a:ext cx="360302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Waiting-Time Estimation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186363" y="2649773"/>
            <a:ext cx="3603022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Patient-side estimates update.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922044" y="2855408"/>
            <a:ext cx="200025" cy="141143"/>
          </a:xfrm>
          <a:prstGeom prst="roundRect">
            <a:avLst>
              <a:gd name="adj" fmla="val 40491"/>
            </a:avLst>
          </a:prstGeom>
          <a:solidFill>
            <a:srgbClr val="FFE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4922044" y="2862969"/>
            <a:ext cx="200025" cy="12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800" b="1" dirty="0">
                <a:solidFill>
                  <a:srgbClr val="D845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86363" y="2855826"/>
            <a:ext cx="34932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Dashboard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186363" y="2974591"/>
            <a:ext cx="3603022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History + Vitals + AI Summary.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922044" y="4341391"/>
            <a:ext cx="3643313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dash"/>
          </a:ln>
        </p:spPr>
      </p:sp>
      <p:sp>
        <p:nvSpPr>
          <p:cNvPr id="85" name="Text 83"/>
          <p:cNvSpPr/>
          <p:nvPr/>
        </p:nvSpPr>
        <p:spPr>
          <a:xfrm>
            <a:off x="4922044" y="441640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125" dirty="0"/>
          </a:p>
        </p:txBody>
      </p:sp>
      <p:sp>
        <p:nvSpPr>
          <p:cNvPr id="86" name="Text 84"/>
          <p:cNvSpPr/>
          <p:nvPr/>
        </p:nvSpPr>
        <p:spPr>
          <a:xfrm>
            <a:off x="5093494" y="4416400"/>
            <a:ext cx="3471863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Doctor-side updates flow back to the patient app in real time — availability, queue position, and estimated wait stay synchronized end-to-end.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91"/>
            <a:ext cx="858366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8656" y="442913"/>
            <a:ext cx="679772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FOUNDATIONS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542925" y="44827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5" name="Text 3"/>
          <p:cNvSpPr/>
          <p:nvPr/>
        </p:nvSpPr>
        <p:spPr>
          <a:xfrm>
            <a:off x="1401291" y="435769"/>
            <a:ext cx="72855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 · BOUNDARY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60797"/>
            <a:ext cx="8636000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AI does — and what it does not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457200" y="1077925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99369"/>
            <a:ext cx="8229600" cy="9907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00085" y="1056494"/>
            <a:ext cx="1683896" cy="97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13"/>
              </a:lnSpc>
              <a:buNone/>
            </a:pPr>
            <a:r>
              <a:rPr lang="en-US" sz="7313" b="1" dirty="0">
                <a:solidFill>
                  <a:srgbClr val="FFFFFF">
                    <a:alpha val="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endParaRPr lang="en-US" sz="7313" dirty="0"/>
          </a:p>
        </p:txBody>
      </p:sp>
      <p:sp>
        <p:nvSpPr>
          <p:cNvPr id="10" name="Text 7"/>
          <p:cNvSpPr/>
          <p:nvPr/>
        </p:nvSpPr>
        <p:spPr>
          <a:xfrm>
            <a:off x="657225" y="135831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4DBAC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828675" y="1356531"/>
            <a:ext cx="76581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9BC4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PRINCIPLE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57225" y="1531553"/>
            <a:ext cx="7829550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4"/>
              </a:lnSpc>
              <a:buNone/>
            </a:pPr>
            <a:r>
              <a:rPr lang="en-US" sz="1463" b="1" kern="0" spc="-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</a:t>
            </a:r>
            <a:r>
              <a:rPr lang="en-US" sz="1463" b="1" kern="0" spc="-7" dirty="0">
                <a:solidFill>
                  <a:srgbClr val="4DBA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connects</a:t>
            </a:r>
            <a:r>
              <a:rPr lang="en-US" sz="1463" b="1" kern="0" spc="-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AI </a:t>
            </a:r>
            <a:r>
              <a:rPr lang="en-US" sz="1463" b="1" kern="0" spc="-7" dirty="0">
                <a:solidFill>
                  <a:srgbClr val="4DBA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organizes</a:t>
            </a:r>
            <a:r>
              <a:rPr lang="en-US" sz="1463" b="1" kern="0" spc="-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AI </a:t>
            </a:r>
            <a:r>
              <a:rPr lang="en-US" sz="1463" b="1" kern="0" spc="-7" dirty="0">
                <a:solidFill>
                  <a:srgbClr val="4DBA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predicts</a:t>
            </a:r>
            <a:r>
              <a:rPr lang="en-US" sz="1463" b="1" kern="0" spc="-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AI does </a:t>
            </a:r>
            <a:r>
              <a:rPr lang="en-US" sz="1463" b="1" kern="0" spc="-7" dirty="0">
                <a:solidFill>
                  <a:srgbClr val="FF8A7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diagnose</a:t>
            </a:r>
            <a:r>
              <a:rPr lang="en-US" sz="1463" b="1" kern="0" spc="-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AI does </a:t>
            </a:r>
            <a:r>
              <a:rPr lang="en-US" sz="1463" b="1" kern="0" spc="-7" dirty="0">
                <a:solidFill>
                  <a:srgbClr val="FF8A7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prescribe</a:t>
            </a:r>
            <a:r>
              <a:rPr lang="en-US" sz="1463" b="1" kern="0" spc="-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Doctors stay in control.</a:t>
            </a:r>
            <a:endParaRPr lang="en-US" sz="1463" dirty="0"/>
          </a:p>
        </p:txBody>
      </p:sp>
      <p:sp>
        <p:nvSpPr>
          <p:cNvPr id="13" name="Text 10"/>
          <p:cNvSpPr/>
          <p:nvPr/>
        </p:nvSpPr>
        <p:spPr>
          <a:xfrm>
            <a:off x="457200" y="230263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642938" y="2290130"/>
            <a:ext cx="1761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b="1" kern="0" spc="29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IMPORTANT TECHNICAL DISTINCTION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2345717" y="2356210"/>
            <a:ext cx="6341083" cy="7144"/>
          </a:xfrm>
          <a:prstGeom prst="rect">
            <a:avLst/>
          </a:prstGeom>
          <a:solidFill>
            <a:srgbClr val="D9E5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60772" y="2490155"/>
            <a:ext cx="2669307" cy="1054261"/>
          </a:xfrm>
          <a:prstGeom prst="roundRect">
            <a:avLst>
              <a:gd name="adj" fmla="val 12649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07219" y="2622314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1007269" y="2661605"/>
            <a:ext cx="19763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Biometric</a:t>
            </a:r>
            <a:endParaRPr lang="en-US" sz="1238" dirty="0"/>
          </a:p>
        </p:txBody>
      </p:sp>
      <p:sp>
        <p:nvSpPr>
          <p:cNvPr id="19" name="Text 16"/>
          <p:cNvSpPr/>
          <p:nvPr/>
        </p:nvSpPr>
        <p:spPr>
          <a:xfrm>
            <a:off x="607219" y="3008077"/>
            <a:ext cx="2486141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Identification / attendance.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07219" y="3218036"/>
            <a:ext cx="2376413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607219" y="330018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22" name="Text 19"/>
          <p:cNvSpPr/>
          <p:nvPr/>
        </p:nvSpPr>
        <p:spPr>
          <a:xfrm>
            <a:off x="757238" y="3293046"/>
            <a:ext cx="2226394" cy="119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647" b="1" kern="0" spc="24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ROLE —</a:t>
            </a:r>
            <a:r>
              <a:rPr lang="en-US" sz="647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Uses the data for better availability management.</a:t>
            </a:r>
            <a:endParaRPr lang="en-US" sz="647" dirty="0"/>
          </a:p>
        </p:txBody>
      </p:sp>
      <p:sp>
        <p:nvSpPr>
          <p:cNvPr id="23" name="Text 20"/>
          <p:cNvSpPr/>
          <p:nvPr/>
        </p:nvSpPr>
        <p:spPr>
          <a:xfrm>
            <a:off x="3237235" y="2490155"/>
            <a:ext cx="2669418" cy="1054261"/>
          </a:xfrm>
          <a:prstGeom prst="roundRect">
            <a:avLst>
              <a:gd name="adj" fmla="val 12649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383682" y="2622314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3783732" y="2661605"/>
            <a:ext cx="197647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Sensors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3383682" y="3008077"/>
            <a:ext cx="2376525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Measurements (vitals).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383682" y="3218036"/>
            <a:ext cx="2376525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3383682" y="330018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29" name="Text 26"/>
          <p:cNvSpPr/>
          <p:nvPr/>
        </p:nvSpPr>
        <p:spPr>
          <a:xfrm>
            <a:off x="3533701" y="3293046"/>
            <a:ext cx="2226506" cy="119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647" b="1" kern="0" spc="24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ROLE —</a:t>
            </a:r>
            <a:r>
              <a:rPr lang="en-US" sz="647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Organizes data and flags for review.</a:t>
            </a:r>
            <a:endParaRPr lang="en-US" sz="647" dirty="0"/>
          </a:p>
        </p:txBody>
      </p:sp>
      <p:sp>
        <p:nvSpPr>
          <p:cNvPr id="30" name="Text 27"/>
          <p:cNvSpPr/>
          <p:nvPr/>
        </p:nvSpPr>
        <p:spPr>
          <a:xfrm>
            <a:off x="6013810" y="2490155"/>
            <a:ext cx="2669307" cy="1054261"/>
          </a:xfrm>
          <a:prstGeom prst="roundRect">
            <a:avLst>
              <a:gd name="adj" fmla="val 12649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60257" y="2622314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6560307" y="2661605"/>
            <a:ext cx="19763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endParaRPr lang="en-US" sz="1238" dirty="0"/>
          </a:p>
        </p:txBody>
      </p:sp>
      <p:sp>
        <p:nvSpPr>
          <p:cNvPr id="33" name="Text 30"/>
          <p:cNvSpPr/>
          <p:nvPr/>
        </p:nvSpPr>
        <p:spPr>
          <a:xfrm>
            <a:off x="6160257" y="3008077"/>
            <a:ext cx="2376413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759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Prediction, organization, routing, assistance.</a:t>
            </a:r>
            <a:endParaRPr lang="en-US" sz="759" dirty="0"/>
          </a:p>
        </p:txBody>
      </p:sp>
      <p:sp>
        <p:nvSpPr>
          <p:cNvPr id="34" name="Shape 31"/>
          <p:cNvSpPr/>
          <p:nvPr/>
        </p:nvSpPr>
        <p:spPr>
          <a:xfrm>
            <a:off x="6160257" y="3218036"/>
            <a:ext cx="2376413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dash"/>
          </a:ln>
        </p:spPr>
      </p:sp>
      <p:sp>
        <p:nvSpPr>
          <p:cNvPr id="35" name="Text 32"/>
          <p:cNvSpPr/>
          <p:nvPr/>
        </p:nvSpPr>
        <p:spPr>
          <a:xfrm>
            <a:off x="6160257" y="330018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36" name="Text 33"/>
          <p:cNvSpPr/>
          <p:nvPr/>
        </p:nvSpPr>
        <p:spPr>
          <a:xfrm>
            <a:off x="6310275" y="3293046"/>
            <a:ext cx="2226394" cy="119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647" b="1" kern="0" spc="24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ROLE —</a:t>
            </a:r>
            <a:r>
              <a:rPr lang="en-US" sz="647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Supports — never replaces — clinical judgment.</a:t>
            </a:r>
            <a:endParaRPr lang="en-US" sz="647" dirty="0"/>
          </a:p>
        </p:txBody>
      </p:sp>
      <p:sp>
        <p:nvSpPr>
          <p:cNvPr id="37" name="Text 34"/>
          <p:cNvSpPr/>
          <p:nvPr/>
        </p:nvSpPr>
        <p:spPr>
          <a:xfrm>
            <a:off x="460772" y="3651572"/>
            <a:ext cx="8222456" cy="435769"/>
          </a:xfrm>
          <a:prstGeom prst="roundRect">
            <a:avLst>
              <a:gd name="adj" fmla="val 26229"/>
            </a:avLst>
          </a:prstGeom>
          <a:solidFill>
            <a:srgbClr val="FFE9E6"/>
          </a:solidFill>
          <a:ln w="7144">
            <a:solidFill>
              <a:srgbClr val="FF6B5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92931" y="374086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39" name="Text 36"/>
          <p:cNvSpPr/>
          <p:nvPr/>
        </p:nvSpPr>
        <p:spPr>
          <a:xfrm>
            <a:off x="950119" y="3801926"/>
            <a:ext cx="7600950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759" b="1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Boundary —</a:t>
            </a:r>
            <a:r>
              <a:rPr lang="en-US" sz="759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Clear separation between </a:t>
            </a:r>
            <a:r>
              <a:rPr lang="en-US" sz="759" b="1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summary / support</a:t>
            </a:r>
            <a:r>
              <a:rPr lang="en-US" sz="759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r>
              <a:rPr lang="en-US" sz="759" b="1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diagnosis / treatment</a:t>
            </a:r>
            <a:r>
              <a:rPr lang="en-US" sz="759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This distinction makes the model technically clear and defensible.</a:t>
            </a:r>
            <a:endParaRPr lang="en-US" sz="759" dirty="0"/>
          </a:p>
        </p:txBody>
      </p:sp>
      <p:sp>
        <p:nvSpPr>
          <p:cNvPr id="40" name="Text 37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91"/>
            <a:ext cx="596168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8656" y="442913"/>
            <a:ext cx="41757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542925" y="44827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14" dirty="0"/>
          </a:p>
        </p:txBody>
      </p:sp>
      <p:sp>
        <p:nvSpPr>
          <p:cNvPr id="5" name="Text 3"/>
          <p:cNvSpPr/>
          <p:nvPr/>
        </p:nvSpPr>
        <p:spPr>
          <a:xfrm>
            <a:off x="1139093" y="435769"/>
            <a:ext cx="75477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 · DOCTORS · ADMIN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60797"/>
            <a:ext cx="8636000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changes for patients, doctors, and admin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457200" y="1077925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0772" y="1202941"/>
            <a:ext cx="1985963" cy="966750"/>
          </a:xfrm>
          <a:prstGeom prst="roundRect">
            <a:avLst>
              <a:gd name="adj" fmla="val 13794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4344" y="1206512"/>
            <a:ext cx="1978819" cy="21431"/>
          </a:xfrm>
          <a:prstGeom prst="rect">
            <a:avLst/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6173" y="1285094"/>
            <a:ext cx="1042452" cy="350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4"/>
              </a:lnSpc>
              <a:buNone/>
            </a:pPr>
            <a:r>
              <a:rPr lang="en-US" sz="2138" kern="0" spc="-43" dirty="0">
                <a:solidFill>
                  <a:srgbClr val="00838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30–50</a:t>
            </a:r>
            <a:endParaRPr lang="en-US" sz="2138" dirty="0"/>
          </a:p>
        </p:txBody>
      </p:sp>
      <p:sp>
        <p:nvSpPr>
          <p:cNvPr id="11" name="Text 9"/>
          <p:cNvSpPr/>
          <p:nvPr/>
        </p:nvSpPr>
        <p:spPr>
          <a:xfrm>
            <a:off x="578644" y="1370819"/>
            <a:ext cx="208955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88" b="1" kern="0" spc="-43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1496281" y="1420825"/>
            <a:ext cx="832582" cy="178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9"/>
              </a:lnSpc>
              <a:buNone/>
            </a:pPr>
            <a:r>
              <a:rPr lang="en-US" sz="1238" kern="0" spc="-43" dirty="0">
                <a:solidFill>
                  <a:srgbClr val="008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578644" y="1662931"/>
            <a:ext cx="1750219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b="1" kern="0" spc="-4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OPD waiting time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8644" y="1836167"/>
            <a:ext cx="175021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queue + AI estimates reduce visible waiting.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39603" y="1202941"/>
            <a:ext cx="1985963" cy="966750"/>
          </a:xfrm>
          <a:prstGeom prst="roundRect">
            <a:avLst>
              <a:gd name="adj" fmla="val 13794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43175" y="1206512"/>
            <a:ext cx="1978819" cy="21431"/>
          </a:xfrm>
          <a:prstGeom prst="rect">
            <a:avLst/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90837" y="1285094"/>
            <a:ext cx="1126461" cy="350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4"/>
              </a:lnSpc>
              <a:buNone/>
            </a:pPr>
            <a:r>
              <a:rPr lang="en-US" sz="2138" kern="0" spc="-43" dirty="0">
                <a:solidFill>
                  <a:srgbClr val="D84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Faster</a:t>
            </a:r>
            <a:endParaRPr lang="en-US" sz="2138" dirty="0"/>
          </a:p>
        </p:txBody>
      </p:sp>
      <p:sp>
        <p:nvSpPr>
          <p:cNvPr id="18" name="Text 16"/>
          <p:cNvSpPr/>
          <p:nvPr/>
        </p:nvSpPr>
        <p:spPr>
          <a:xfrm>
            <a:off x="2657475" y="1370819"/>
            <a:ext cx="208955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88" b="1" kern="0" spc="-43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688" dirty="0"/>
          </a:p>
        </p:txBody>
      </p:sp>
      <p:sp>
        <p:nvSpPr>
          <p:cNvPr id="19" name="Text 17"/>
          <p:cNvSpPr/>
          <p:nvPr/>
        </p:nvSpPr>
        <p:spPr>
          <a:xfrm>
            <a:off x="2657475" y="1662931"/>
            <a:ext cx="1750219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b="1" kern="0" spc="-4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triage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57475" y="1836167"/>
            <a:ext cx="175021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Parallel admin + fast-track handoff save critical minutes.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18434" y="1202941"/>
            <a:ext cx="1985963" cy="966750"/>
          </a:xfrm>
          <a:prstGeom prst="roundRect">
            <a:avLst>
              <a:gd name="adj" fmla="val 13794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22006" y="1206512"/>
            <a:ext cx="1978819" cy="21431"/>
          </a:xfrm>
          <a:prstGeom prst="rect">
            <a:avLst/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31328" y="1285094"/>
            <a:ext cx="293614" cy="350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4"/>
              </a:lnSpc>
              <a:buNone/>
            </a:pPr>
            <a:r>
              <a:rPr lang="en-US" sz="2138" kern="0" spc="-43" dirty="0">
                <a:solidFill>
                  <a:srgbClr val="00838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2138" dirty="0"/>
          </a:p>
        </p:txBody>
      </p:sp>
      <p:sp>
        <p:nvSpPr>
          <p:cNvPr id="24" name="Text 22"/>
          <p:cNvSpPr/>
          <p:nvPr/>
        </p:nvSpPr>
        <p:spPr>
          <a:xfrm>
            <a:off x="4736306" y="1370819"/>
            <a:ext cx="208955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88" b="1" kern="0" spc="-43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688" dirty="0"/>
          </a:p>
        </p:txBody>
      </p:sp>
      <p:sp>
        <p:nvSpPr>
          <p:cNvPr id="25" name="Text 23"/>
          <p:cNvSpPr/>
          <p:nvPr/>
        </p:nvSpPr>
        <p:spPr>
          <a:xfrm>
            <a:off x="5132784" y="1420825"/>
            <a:ext cx="1353741" cy="178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9"/>
              </a:lnSpc>
              <a:buNone/>
            </a:pPr>
            <a:r>
              <a:rPr lang="en-US" sz="1238" kern="0" spc="-43" dirty="0">
                <a:solidFill>
                  <a:srgbClr val="008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736306" y="1662931"/>
            <a:ext cx="1750219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b="1" kern="0" spc="-4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info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6306" y="1836167"/>
            <a:ext cx="1855232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647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History + vitals + AI summary in one place.</a:t>
            </a:r>
            <a:endParaRPr lang="en-US" sz="647" dirty="0"/>
          </a:p>
        </p:txBody>
      </p:sp>
      <p:sp>
        <p:nvSpPr>
          <p:cNvPr id="28" name="Text 26"/>
          <p:cNvSpPr/>
          <p:nvPr/>
        </p:nvSpPr>
        <p:spPr>
          <a:xfrm>
            <a:off x="6697266" y="1202941"/>
            <a:ext cx="1985963" cy="966750"/>
          </a:xfrm>
          <a:prstGeom prst="roundRect">
            <a:avLst>
              <a:gd name="adj" fmla="val 13794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00838" y="1206512"/>
            <a:ext cx="1978819" cy="21431"/>
          </a:xfrm>
          <a:prstGeom prst="rect">
            <a:avLst/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52667" y="1285094"/>
            <a:ext cx="834033" cy="350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4"/>
              </a:lnSpc>
              <a:buNone/>
            </a:pPr>
            <a:r>
              <a:rPr lang="en-US" sz="2138" kern="0" spc="-43" dirty="0">
                <a:solidFill>
                  <a:srgbClr val="D84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2138" dirty="0"/>
          </a:p>
        </p:txBody>
      </p:sp>
      <p:sp>
        <p:nvSpPr>
          <p:cNvPr id="31" name="Text 29"/>
          <p:cNvSpPr/>
          <p:nvPr/>
        </p:nvSpPr>
        <p:spPr>
          <a:xfrm>
            <a:off x="6815138" y="1370819"/>
            <a:ext cx="208955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88" b="1" kern="0" spc="-43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688" dirty="0"/>
          </a:p>
        </p:txBody>
      </p:sp>
      <p:sp>
        <p:nvSpPr>
          <p:cNvPr id="32" name="Text 30"/>
          <p:cNvSpPr/>
          <p:nvPr/>
        </p:nvSpPr>
        <p:spPr>
          <a:xfrm>
            <a:off x="6815138" y="1662931"/>
            <a:ext cx="1750219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b="1" kern="0" spc="-4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visibility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15138" y="1836167"/>
            <a:ext cx="1855232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647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hospital status, not just one counter.</a:t>
            </a:r>
            <a:endParaRPr lang="en-US" sz="647" dirty="0"/>
          </a:p>
        </p:txBody>
      </p:sp>
      <p:sp>
        <p:nvSpPr>
          <p:cNvPr id="34" name="Text 32"/>
          <p:cNvSpPr/>
          <p:nvPr/>
        </p:nvSpPr>
        <p:spPr>
          <a:xfrm>
            <a:off x="460772" y="2276847"/>
            <a:ext cx="4057650" cy="2288009"/>
          </a:xfrm>
          <a:prstGeom prst="roundRect">
            <a:avLst>
              <a:gd name="adj" fmla="val 5828"/>
            </a:avLst>
          </a:prstGeom>
          <a:solidFill>
            <a:srgbClr val="E0F2F4"/>
          </a:solidFill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7219" y="23947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907256" y="2412578"/>
            <a:ext cx="29789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Patients</a:t>
            </a:r>
            <a:endParaRPr lang="en-US" sz="1013" dirty="0"/>
          </a:p>
        </p:txBody>
      </p:sp>
      <p:sp>
        <p:nvSpPr>
          <p:cNvPr id="37" name="Text 35"/>
          <p:cNvSpPr/>
          <p:nvPr/>
        </p:nvSpPr>
        <p:spPr>
          <a:xfrm>
            <a:off x="3854872" y="2452762"/>
            <a:ext cx="58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600" kern="0" spc="59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07219" y="2694756"/>
            <a:ext cx="3764756" cy="768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84"/>
              </a:lnSpc>
              <a:spcAft>
                <a:spcPts val="450"/>
              </a:spcAft>
              <a:buSzPct val="100000"/>
              <a:buChar char="•"/>
            </a:pPr>
            <a:r>
              <a:rPr lang="en-US" sz="80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✓Less time waiting, more time being seen.</a:t>
            </a:r>
            <a:endParaRPr lang="en-US" sz="800" dirty="0"/>
          </a:p>
          <a:p>
            <a:pPr marL="342900" indent="-342900" algn="l">
              <a:lnSpc>
                <a:spcPts val="984"/>
              </a:lnSpc>
              <a:spcAft>
                <a:spcPts val="450"/>
              </a:spcAft>
              <a:buSzPct val="100000"/>
              <a:buChar char="•"/>
            </a:pPr>
            <a:r>
              <a:rPr lang="en-US" sz="80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✓Transparent token + estimated wait.</a:t>
            </a:r>
            <a:endParaRPr lang="en-US" sz="800" dirty="0"/>
          </a:p>
          <a:p>
            <a:pPr marL="342900" indent="-342900" algn="l">
              <a:lnSpc>
                <a:spcPts val="984"/>
              </a:lnSpc>
              <a:spcAft>
                <a:spcPts val="450"/>
              </a:spcAft>
              <a:buSzPct val="100000"/>
              <a:buChar char="•"/>
            </a:pPr>
            <a:r>
              <a:rPr lang="en-US" sz="80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✓Pre-arrival info entry saves in-clinic time.</a:t>
            </a:r>
            <a:endParaRPr lang="en-US" sz="800" dirty="0"/>
          </a:p>
          <a:p>
            <a:pPr marL="342900" indent="-342900" algn="l">
              <a:lnSpc>
                <a:spcPts val="984"/>
              </a:lnSpc>
              <a:spcAft>
                <a:spcPts val="450"/>
              </a:spcAft>
              <a:buSzPct val="100000"/>
              <a:buChar char="•"/>
            </a:pPr>
            <a:r>
              <a:rPr lang="en-US" sz="80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✓Faster emergency response when every minute matters.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25578" y="2276847"/>
            <a:ext cx="4057650" cy="2288009"/>
          </a:xfrm>
          <a:prstGeom prst="roundRect">
            <a:avLst>
              <a:gd name="adj" fmla="val 5828"/>
            </a:avLst>
          </a:prstGeom>
          <a:solidFill>
            <a:srgbClr val="FFE9E6"/>
          </a:solidFill>
          <a:ln w="7144">
            <a:solidFill>
              <a:srgbClr val="FF6B5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72025" y="23947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5072063" y="2412578"/>
            <a:ext cx="29789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Hospital</a:t>
            </a:r>
            <a:endParaRPr lang="en-US" sz="1013" dirty="0"/>
          </a:p>
        </p:txBody>
      </p:sp>
      <p:sp>
        <p:nvSpPr>
          <p:cNvPr id="42" name="Text 40"/>
          <p:cNvSpPr/>
          <p:nvPr/>
        </p:nvSpPr>
        <p:spPr>
          <a:xfrm>
            <a:off x="8019679" y="2452762"/>
            <a:ext cx="58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600" kern="0" spc="59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772025" y="2694756"/>
            <a:ext cx="3764756" cy="768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84"/>
              </a:lnSpc>
              <a:spcAft>
                <a:spcPts val="450"/>
              </a:spcAft>
              <a:buSzPct val="100000"/>
              <a:buChar char="•"/>
            </a:pPr>
            <a:r>
              <a:rPr lang="en-US" sz="80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✓Operational visibility across the whole hospital.</a:t>
            </a:r>
            <a:endParaRPr lang="en-US" sz="800" dirty="0"/>
          </a:p>
          <a:p>
            <a:pPr marL="342900" indent="-342900" algn="l">
              <a:lnSpc>
                <a:spcPts val="984"/>
              </a:lnSpc>
              <a:spcAft>
                <a:spcPts val="450"/>
              </a:spcAft>
              <a:buSzPct val="100000"/>
              <a:buChar char="•"/>
            </a:pPr>
            <a:r>
              <a:rPr lang="en-US" sz="80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✓Better information quality for clinical decisions.</a:t>
            </a:r>
            <a:endParaRPr lang="en-US" sz="800" dirty="0"/>
          </a:p>
          <a:p>
            <a:pPr marL="342900" indent="-342900" algn="l">
              <a:lnSpc>
                <a:spcPts val="984"/>
              </a:lnSpc>
              <a:spcAft>
                <a:spcPts val="450"/>
              </a:spcAft>
              <a:buSzPct val="100000"/>
              <a:buChar char="•"/>
            </a:pPr>
            <a:r>
              <a:rPr lang="en-US" sz="80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✓Audit logs strengthen governance and trust.</a:t>
            </a:r>
            <a:endParaRPr lang="en-US" sz="800" dirty="0"/>
          </a:p>
          <a:p>
            <a:pPr marL="342900" indent="-342900" algn="l">
              <a:lnSpc>
                <a:spcPts val="984"/>
              </a:lnSpc>
              <a:spcAft>
                <a:spcPts val="450"/>
              </a:spcAft>
              <a:buSzPct val="100000"/>
              <a:buChar char="•"/>
            </a:pPr>
            <a:r>
              <a:rPr lang="en-US" sz="80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✓Doctor time spent on care — not paperwork.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462557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i="1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Indicative impact ranges; final numbers depend on pilot data.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91"/>
            <a:ext cx="688814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5829" y="442913"/>
            <a:ext cx="55587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2925" y="44827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914" dirty="0"/>
          </a:p>
        </p:txBody>
      </p:sp>
      <p:sp>
        <p:nvSpPr>
          <p:cNvPr id="5" name="Text 3"/>
          <p:cNvSpPr/>
          <p:nvPr/>
        </p:nvSpPr>
        <p:spPr>
          <a:xfrm>
            <a:off x="1231739" y="435769"/>
            <a:ext cx="74550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PHASES · PILOT → ITERATE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60797"/>
            <a:ext cx="8636000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we roll this out at JPMC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457200" y="1077925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0772" y="1231516"/>
            <a:ext cx="1793081" cy="1704677"/>
          </a:xfrm>
          <a:prstGeom prst="roundRect">
            <a:avLst>
              <a:gd name="adj" fmla="val 7823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7909" y="1373676"/>
            <a:ext cx="559838" cy="180023"/>
          </a:xfrm>
          <a:prstGeom prst="roundRect">
            <a:avLst>
              <a:gd name="adj" fmla="val 528570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3107" y="1383320"/>
            <a:ext cx="58944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07381" y="134938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78644" y="1635137"/>
            <a:ext cx="155733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Pilot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578644" y="1928031"/>
            <a:ext cx="1557338" cy="67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one OPD + the Emergency triage area. Measure baseline waiting time, doctor utilization, and patient feedback.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8644" y="2636155"/>
            <a:ext cx="1557338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78644" y="2729024"/>
            <a:ext cx="42863" cy="42863"/>
          </a:xfrm>
          <a:prstGeom prst="roundRect">
            <a:avLst>
              <a:gd name="adj" fmla="val 66666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8644" y="2632583"/>
            <a:ext cx="1557338" cy="17145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OPD · 1 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28863" y="198384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8" name="Text 16"/>
          <p:cNvSpPr/>
          <p:nvPr/>
        </p:nvSpPr>
        <p:spPr>
          <a:xfrm>
            <a:off x="2603897" y="1231516"/>
            <a:ext cx="1793081" cy="1704677"/>
          </a:xfrm>
          <a:prstGeom prst="roundRect">
            <a:avLst>
              <a:gd name="adj" fmla="val 7823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01034" y="1373676"/>
            <a:ext cx="559838" cy="180023"/>
          </a:xfrm>
          <a:prstGeom prst="roundRect">
            <a:avLst>
              <a:gd name="adj" fmla="val 528570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86232" y="1383320"/>
            <a:ext cx="58944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50506" y="134938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2721769" y="1635137"/>
            <a:ext cx="155733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1238" dirty="0"/>
          </a:p>
        </p:txBody>
      </p:sp>
      <p:sp>
        <p:nvSpPr>
          <p:cNvPr id="23" name="Text 21"/>
          <p:cNvSpPr/>
          <p:nvPr/>
        </p:nvSpPr>
        <p:spPr>
          <a:xfrm>
            <a:off x="2721769" y="1928031"/>
            <a:ext cx="1557338" cy="67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 to existing hospital information systems (HIS, billing, pharmacy). Avoid building parallel silos.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21769" y="2636155"/>
            <a:ext cx="1557338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721769" y="2729024"/>
            <a:ext cx="42863" cy="42863"/>
          </a:xfrm>
          <a:prstGeom prst="roundRect">
            <a:avLst>
              <a:gd name="adj" fmla="val 66666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721769" y="2632583"/>
            <a:ext cx="1557337" cy="17145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 · BILLING · PHARMACY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71988" y="198384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8" name="Text 26"/>
          <p:cNvSpPr/>
          <p:nvPr/>
        </p:nvSpPr>
        <p:spPr>
          <a:xfrm>
            <a:off x="4747022" y="1231516"/>
            <a:ext cx="1793081" cy="1704677"/>
          </a:xfrm>
          <a:prstGeom prst="roundRect">
            <a:avLst>
              <a:gd name="adj" fmla="val 7823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44159" y="1373676"/>
            <a:ext cx="559838" cy="180023"/>
          </a:xfrm>
          <a:prstGeom prst="roundRect">
            <a:avLst>
              <a:gd name="adj" fmla="val 528570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29357" y="1383320"/>
            <a:ext cx="58944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93631" y="134938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4864894" y="1635137"/>
            <a:ext cx="155733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</a:t>
            </a:r>
            <a:endParaRPr lang="en-US" sz="1238" dirty="0"/>
          </a:p>
        </p:txBody>
      </p:sp>
      <p:sp>
        <p:nvSpPr>
          <p:cNvPr id="33" name="Text 31"/>
          <p:cNvSpPr/>
          <p:nvPr/>
        </p:nvSpPr>
        <p:spPr>
          <a:xfrm>
            <a:off x="4864894" y="1928031"/>
            <a:ext cx="1557338" cy="67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Define data governance, role-based access policies, and audit requirements. Train staff on the boundary between AI support and clinical decision.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64894" y="2636155"/>
            <a:ext cx="1557338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864894" y="2729024"/>
            <a:ext cx="42863" cy="42863"/>
          </a:xfrm>
          <a:prstGeom prst="roundRect">
            <a:avLst>
              <a:gd name="adj" fmla="val 66666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64894" y="2632583"/>
            <a:ext cx="1557337" cy="17145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RBAC · AUDIT · TRAINING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15113" y="198384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38" name="Text 36"/>
          <p:cNvSpPr/>
          <p:nvPr/>
        </p:nvSpPr>
        <p:spPr>
          <a:xfrm>
            <a:off x="6890147" y="1231516"/>
            <a:ext cx="1793081" cy="1704677"/>
          </a:xfrm>
          <a:prstGeom prst="roundRect">
            <a:avLst>
              <a:gd name="adj" fmla="val 7823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87284" y="1373676"/>
            <a:ext cx="559838" cy="180023"/>
          </a:xfrm>
          <a:prstGeom prst="roundRect">
            <a:avLst>
              <a:gd name="adj" fmla="val 528570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972482" y="1383320"/>
            <a:ext cx="58944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0056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36756" y="134938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7008019" y="1635137"/>
            <a:ext cx="155733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Iterate</a:t>
            </a:r>
            <a:endParaRPr lang="en-US" sz="1238" dirty="0"/>
          </a:p>
        </p:txBody>
      </p:sp>
      <p:sp>
        <p:nvSpPr>
          <p:cNvPr id="43" name="Text 41"/>
          <p:cNvSpPr/>
          <p:nvPr/>
        </p:nvSpPr>
        <p:spPr>
          <a:xfrm>
            <a:off x="7008019" y="1928031"/>
            <a:ext cx="1557338" cy="67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Roll out across more OPDs based on real-world feedback. Refine AI wait-estimation models with live data.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008019" y="2636155"/>
            <a:ext cx="1557338" cy="0"/>
          </a:xfrm>
          <a:prstGeom prst="line">
            <a:avLst/>
          </a:prstGeom>
          <a:noFill/>
          <a:ln w="7144">
            <a:solidFill>
              <a:srgbClr val="D9E5E8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7008019" y="2729024"/>
            <a:ext cx="42863" cy="42863"/>
          </a:xfrm>
          <a:prstGeom prst="roundRect">
            <a:avLst>
              <a:gd name="adj" fmla="val 66666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008019" y="2632583"/>
            <a:ext cx="1557337" cy="17145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· REFINE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0772" y="3071924"/>
            <a:ext cx="8222456" cy="485775"/>
          </a:xfrm>
          <a:prstGeom prst="roundRect">
            <a:avLst>
              <a:gd name="adj" fmla="val 27451"/>
            </a:avLst>
          </a:prstGeom>
          <a:solidFill>
            <a:srgbClr val="E0F2F4"/>
          </a:solidFill>
          <a:ln w="7144">
            <a:solidFill>
              <a:srgbClr val="4DBAC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1571179" y="3175508"/>
            <a:ext cx="0" cy="278606"/>
          </a:xfrm>
          <a:prstGeom prst="line">
            <a:avLst/>
          </a:prstGeom>
          <a:noFill/>
          <a:ln w="7144">
            <a:solidFill>
              <a:srgbClr val="4DBA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7219" y="318622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810007" y="3175508"/>
            <a:ext cx="754837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4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35831" y="3346958"/>
            <a:ext cx="5031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56" dirty="0">
                <a:solidFill>
                  <a:srgbClr val="0056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ON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867644" y="3252304"/>
            <a:ext cx="1140628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stays in control</a:t>
            </a:r>
            <a:endParaRPr lang="en-US" sz="731" dirty="0"/>
          </a:p>
        </p:txBody>
      </p:sp>
      <p:sp>
        <p:nvSpPr>
          <p:cNvPr id="53" name="Text 51"/>
          <p:cNvSpPr/>
          <p:nvPr/>
        </p:nvSpPr>
        <p:spPr>
          <a:xfrm>
            <a:off x="1703338" y="325766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2880159" y="3229087"/>
            <a:ext cx="914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DBA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171825" y="3252304"/>
            <a:ext cx="943756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every access</a:t>
            </a:r>
            <a:endParaRPr lang="en-US" sz="731" dirty="0"/>
          </a:p>
        </p:txBody>
      </p:sp>
      <p:sp>
        <p:nvSpPr>
          <p:cNvPr id="56" name="Text 54"/>
          <p:cNvSpPr/>
          <p:nvPr/>
        </p:nvSpPr>
        <p:spPr>
          <a:xfrm>
            <a:off x="3007519" y="325766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4026843" y="3229087"/>
            <a:ext cx="914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DBA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318508" y="3252304"/>
            <a:ext cx="4218273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assists — never decides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154202" y="325766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8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00"/>
            <a:ext cx="9144000" cy="2286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938" y="614363"/>
            <a:ext cx="3286125" cy="3286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28938" y="614363"/>
            <a:ext cx="3286125" cy="3286125"/>
          </a:xfrm>
          <a:prstGeom prst="ellipse">
            <a:avLst/>
          </a:prstGeom>
          <a:solidFill>
            <a:srgbClr val="FF6B5B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1"/>
          <p:cNvSpPr/>
          <p:nvPr/>
        </p:nvSpPr>
        <p:spPr>
          <a:xfrm>
            <a:off x="3829273" y="3940448"/>
            <a:ext cx="0" cy="246459"/>
          </a:xfrm>
          <a:prstGeom prst="line">
            <a:avLst/>
          </a:prstGeom>
          <a:noFill/>
          <a:ln w="7144">
            <a:solidFill>
              <a:srgbClr val="D9E5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4848820"/>
            <a:ext cx="71438" cy="71438"/>
          </a:xfrm>
          <a:prstGeom prst="roundRect">
            <a:avLst>
              <a:gd name="adj" fmla="val 4000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4825603"/>
            <a:ext cx="18295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JPMC / PATIENT FLOW SYSTEM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356736" y="4825603"/>
            <a:ext cx="4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8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16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267855" y="838078"/>
            <a:ext cx="608179" cy="212027"/>
          </a:xfrm>
          <a:prstGeom prst="roundRect">
            <a:avLst>
              <a:gd name="adj" fmla="val 4487860"/>
            </a:avLst>
          </a:prstGeom>
          <a:solidFill>
            <a:srgbClr val="E0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482333" y="892299"/>
            <a:ext cx="31495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0056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CLOSE</a:t>
            </a:r>
            <a:endParaRPr lang="en-US" sz="619" dirty="0"/>
          </a:p>
        </p:txBody>
      </p:sp>
      <p:sp>
        <p:nvSpPr>
          <p:cNvPr id="11" name="Text 7"/>
          <p:cNvSpPr/>
          <p:nvPr/>
        </p:nvSpPr>
        <p:spPr>
          <a:xfrm>
            <a:off x="4376105" y="897657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12" name="Text 8"/>
          <p:cNvSpPr/>
          <p:nvPr/>
        </p:nvSpPr>
        <p:spPr>
          <a:xfrm>
            <a:off x="274320" y="1167333"/>
            <a:ext cx="8595360" cy="93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2"/>
              </a:lnSpc>
              <a:buNone/>
            </a:pPr>
            <a:r>
              <a:rPr lang="en-US" sz="3150" b="1" kern="0" spc="-63" dirty="0">
                <a:solidFill>
                  <a:srgbClr val="00838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care.</a:t>
            </a:r>
            <a:r>
              <a:rPr lang="en-US" sz="3150" b="1" kern="0" spc="-63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Less waiting. </a:t>
            </a:r>
            <a:r>
              <a:rPr lang="en-US" sz="3150" b="1" kern="0" spc="-63" dirty="0">
                <a:solidFill>
                  <a:srgbClr val="D845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Doctors in control.</a:t>
            </a:r>
            <a:endParaRPr lang="en-US" sz="3150" dirty="0"/>
          </a:p>
        </p:txBody>
      </p:sp>
      <p:sp>
        <p:nvSpPr>
          <p:cNvPr id="13" name="Text 9"/>
          <p:cNvSpPr/>
          <p:nvPr/>
        </p:nvSpPr>
        <p:spPr>
          <a:xfrm>
            <a:off x="2568959" y="2131293"/>
            <a:ext cx="4005969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kern="0" spc="5" dirty="0">
                <a:solidFill>
                  <a:srgbClr val="6B8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AI-Assisted Connected Patient Flow System — Jinnah Hospital (JPMC).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4286250" y="2452762"/>
            <a:ext cx="571500" cy="21431"/>
          </a:xfrm>
          <a:prstGeom prst="roundRect">
            <a:avLst>
              <a:gd name="adj" fmla="val 88890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330314" y="2677790"/>
            <a:ext cx="1421606" cy="951905"/>
          </a:xfrm>
          <a:prstGeom prst="roundRect">
            <a:avLst>
              <a:gd name="adj" fmla="val 14009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333885" y="2681362"/>
            <a:ext cx="1414463" cy="21431"/>
          </a:xfrm>
          <a:prstGeom prst="rect">
            <a:avLst/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883954" y="2795662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8" name="Text 14"/>
          <p:cNvSpPr/>
          <p:nvPr/>
        </p:nvSpPr>
        <p:spPr>
          <a:xfrm>
            <a:off x="2734817" y="3167137"/>
            <a:ext cx="6124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2542126" y="3402881"/>
            <a:ext cx="99798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647" kern="0" spc="13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flow, queue, information</a:t>
            </a:r>
            <a:endParaRPr lang="en-US" sz="647" dirty="0"/>
          </a:p>
        </p:txBody>
      </p:sp>
      <p:sp>
        <p:nvSpPr>
          <p:cNvPr id="20" name="Text 16"/>
          <p:cNvSpPr/>
          <p:nvPr/>
        </p:nvSpPr>
        <p:spPr>
          <a:xfrm>
            <a:off x="3859076" y="2677790"/>
            <a:ext cx="1421606" cy="951905"/>
          </a:xfrm>
          <a:prstGeom prst="roundRect">
            <a:avLst>
              <a:gd name="adj" fmla="val 14009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862648" y="2681362"/>
            <a:ext cx="1414463" cy="21431"/>
          </a:xfrm>
          <a:prstGeom prst="rect">
            <a:avLst/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412717" y="2795662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845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3" name="Text 19"/>
          <p:cNvSpPr/>
          <p:nvPr/>
        </p:nvSpPr>
        <p:spPr>
          <a:xfrm>
            <a:off x="4303030" y="3167137"/>
            <a:ext cx="533587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Assist</a:t>
            </a:r>
            <a:endParaRPr lang="en-US" sz="1013" dirty="0"/>
          </a:p>
        </p:txBody>
      </p:sp>
      <p:sp>
        <p:nvSpPr>
          <p:cNvPr id="24" name="Text 20"/>
          <p:cNvSpPr/>
          <p:nvPr/>
        </p:nvSpPr>
        <p:spPr>
          <a:xfrm>
            <a:off x="4050880" y="3402881"/>
            <a:ext cx="103788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647" kern="0" spc="13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organizes and predicts</a:t>
            </a:r>
            <a:endParaRPr lang="en-US" sz="647" dirty="0"/>
          </a:p>
        </p:txBody>
      </p:sp>
      <p:sp>
        <p:nvSpPr>
          <p:cNvPr id="25" name="Text 21"/>
          <p:cNvSpPr/>
          <p:nvPr/>
        </p:nvSpPr>
        <p:spPr>
          <a:xfrm>
            <a:off x="5387839" y="2677790"/>
            <a:ext cx="1425736" cy="951905"/>
          </a:xfrm>
          <a:prstGeom prst="roundRect">
            <a:avLst>
              <a:gd name="adj" fmla="val 14009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391410" y="2681362"/>
            <a:ext cx="1418592" cy="21431"/>
          </a:xfrm>
          <a:prstGeom prst="rect">
            <a:avLst/>
          </a:prstGeom>
          <a:solidFill>
            <a:srgbClr val="0F2A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5943488" y="2795662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28" name="Text 24"/>
          <p:cNvSpPr/>
          <p:nvPr/>
        </p:nvSpPr>
        <p:spPr>
          <a:xfrm>
            <a:off x="5833858" y="3167137"/>
            <a:ext cx="53358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</a:t>
            </a:r>
            <a:endParaRPr lang="en-US" sz="1013" dirty="0"/>
          </a:p>
        </p:txBody>
      </p:sp>
      <p:sp>
        <p:nvSpPr>
          <p:cNvPr id="29" name="Text 25"/>
          <p:cNvSpPr/>
          <p:nvPr/>
        </p:nvSpPr>
        <p:spPr>
          <a:xfrm>
            <a:off x="5548573" y="3402881"/>
            <a:ext cx="114843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647" kern="0" spc="13" dirty="0">
                <a:solidFill>
                  <a:srgbClr val="2C4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role-based access, audit logs</a:t>
            </a:r>
            <a:endParaRPr lang="en-US" sz="647" dirty="0"/>
          </a:p>
        </p:txBody>
      </p:sp>
      <p:sp>
        <p:nvSpPr>
          <p:cNvPr id="30" name="Text 26"/>
          <p:cNvSpPr/>
          <p:nvPr/>
        </p:nvSpPr>
        <p:spPr>
          <a:xfrm>
            <a:off x="2678237" y="3836863"/>
            <a:ext cx="3787415" cy="453628"/>
          </a:xfrm>
          <a:prstGeom prst="roundRect">
            <a:avLst>
              <a:gd name="adj" fmla="val 29396"/>
            </a:avLst>
          </a:prstGeom>
          <a:solidFill>
            <a:srgbClr val="FAFCFC"/>
          </a:solidFill>
          <a:ln w="7144">
            <a:solidFill>
              <a:srgbClr val="D9E5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2838971" y="394937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3071237" y="3940448"/>
            <a:ext cx="66507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600" kern="0" spc="64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</a:t>
            </a:r>
            <a:endParaRPr lang="en-US" sz="600" dirty="0"/>
          </a:p>
        </p:txBody>
      </p:sp>
      <p:sp>
        <p:nvSpPr>
          <p:cNvPr id="33" name="Text 29"/>
          <p:cNvSpPr/>
          <p:nvPr/>
        </p:nvSpPr>
        <p:spPr>
          <a:xfrm>
            <a:off x="3034117" y="4042246"/>
            <a:ext cx="73931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Rabia &amp; Tayyaba</a:t>
            </a:r>
            <a:endParaRPr lang="en-US" sz="759" dirty="0"/>
          </a:p>
        </p:txBody>
      </p:sp>
      <p:sp>
        <p:nvSpPr>
          <p:cNvPr id="34" name="Text 30"/>
          <p:cNvSpPr/>
          <p:nvPr/>
        </p:nvSpPr>
        <p:spPr>
          <a:xfrm>
            <a:off x="3990008" y="394937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56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125" dirty="0"/>
          </a:p>
        </p:txBody>
      </p:sp>
      <p:sp>
        <p:nvSpPr>
          <p:cNvPr id="35" name="Text 31"/>
          <p:cNvSpPr/>
          <p:nvPr/>
        </p:nvSpPr>
        <p:spPr>
          <a:xfrm>
            <a:off x="3990008" y="3940448"/>
            <a:ext cx="231491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kern="0" spc="64" dirty="0">
                <a:solidFill>
                  <a:srgbClr val="6B8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209450" y="4042246"/>
            <a:ext cx="2176062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0F2A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Discussion — open floor for JPMC stakeholders</a:t>
            </a:r>
            <a:endParaRPr lang="en-US" sz="759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C217C4-8F37-AF3B-E67B-91651F55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92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3581</Words>
  <Application>Microsoft Office PowerPoint</Application>
  <PresentationFormat>On-screen Show (16:9)</PresentationFormat>
  <Paragraphs>595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Carlito</vt:lpstr>
      <vt:lpstr>Courier New</vt:lpstr>
      <vt:lpstr>Liberation Sans Narrow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Rabia</cp:lastModifiedBy>
  <cp:revision>4</cp:revision>
  <dcterms:created xsi:type="dcterms:W3CDTF">2026-09-22T05:58:30Z</dcterms:created>
  <dcterms:modified xsi:type="dcterms:W3CDTF">2026-09-22T08:33:54Z</dcterms:modified>
</cp:coreProperties>
</file>